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6944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E1F2F"/>
          </a:solidFill>
          <a:ln/>
        </p:spPr>
      </p:sp>
      <p:sp>
        <p:nvSpPr>
          <p:cNvPr id="3" name="Shape 1"/>
          <p:cNvSpPr/>
          <p:nvPr/>
        </p:nvSpPr>
        <p:spPr>
          <a:xfrm>
            <a:off x="9692640" y="-2103120"/>
            <a:ext cx="5852160" cy="5852160"/>
          </a:xfrm>
          <a:prstGeom prst="ellipse">
            <a:avLst/>
          </a:prstGeom>
          <a:solidFill>
            <a:srgbClr val="141A45"/>
          </a:solidFill>
          <a:ln/>
        </p:spPr>
      </p:sp>
      <p:sp>
        <p:nvSpPr>
          <p:cNvPr id="4" name="Shape 2"/>
          <p:cNvSpPr/>
          <p:nvPr/>
        </p:nvSpPr>
        <p:spPr>
          <a:xfrm>
            <a:off x="-2468880" y="4297680"/>
            <a:ext cx="5120640" cy="5120640"/>
          </a:xfrm>
          <a:prstGeom prst="ellipse">
            <a:avLst/>
          </a:prstGeom>
          <a:solidFill>
            <a:srgbClr val="141A45"/>
          </a:solidFill>
          <a:ln/>
        </p:spPr>
      </p:sp>
      <p:pic>
        <p:nvPicPr>
          <p:cNvPr id="5" name="Image 0" descr="/home/claude/work/iilm_logo-000.png"/>
          <p:cNvPicPr>
            <a:picLocks noChangeAspect="1"/>
          </p:cNvPicPr>
          <p:nvPr/>
        </p:nvPicPr>
        <p:blipFill>
          <a:blip r:embed="rId3"/>
          <a:stretch>
            <a:fillRect/>
          </a:stretch>
        </p:blipFill>
        <p:spPr>
          <a:xfrm>
            <a:off x="685799" y="502920"/>
            <a:ext cx="1209675" cy="1225296"/>
          </a:xfrm>
          <a:prstGeom prst="rect">
            <a:avLst/>
          </a:prstGeom>
        </p:spPr>
      </p:pic>
      <p:sp>
        <p:nvSpPr>
          <p:cNvPr id="6" name="Text 3"/>
          <p:cNvSpPr/>
          <p:nvPr/>
        </p:nvSpPr>
        <p:spPr>
          <a:xfrm>
            <a:off x="2009774" y="548640"/>
            <a:ext cx="6219826"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IILM UNIVERSITY</a:t>
            </a:r>
            <a:endParaRPr lang="en-US" sz="2200" dirty="0"/>
          </a:p>
        </p:txBody>
      </p:sp>
      <p:sp>
        <p:nvSpPr>
          <p:cNvPr id="7" name="Text 4"/>
          <p:cNvSpPr/>
          <p:nvPr/>
        </p:nvSpPr>
        <p:spPr>
          <a:xfrm>
            <a:off x="2009774" y="978408"/>
            <a:ext cx="7591425" cy="32004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Greater Noida  |  School of Computer Science and Engineering</a:t>
            </a:r>
            <a:endParaRPr lang="en-US" sz="1250" dirty="0"/>
          </a:p>
        </p:txBody>
      </p:sp>
      <p:sp>
        <p:nvSpPr>
          <p:cNvPr id="8" name="Text 5"/>
          <p:cNvSpPr/>
          <p:nvPr/>
        </p:nvSpPr>
        <p:spPr>
          <a:xfrm>
            <a:off x="685800" y="2331720"/>
            <a:ext cx="7315200" cy="365760"/>
          </a:xfrm>
          <a:prstGeom prst="rect">
            <a:avLst/>
          </a:prstGeom>
          <a:noFill/>
          <a:ln/>
        </p:spPr>
        <p:txBody>
          <a:bodyPr wrap="square" lIns="0" tIns="0" rIns="0" bIns="0" rtlCol="0" anchor="ctr"/>
          <a:lstStyle/>
          <a:p>
            <a:pPr marL="0" indent="0">
              <a:buNone/>
            </a:pPr>
            <a:r>
              <a:rPr lang="en-US" sz="1300" b="1" kern="0" spc="300" dirty="0">
                <a:solidFill>
                  <a:srgbClr val="E7A5AD"/>
                </a:solidFill>
                <a:latin typeface="Calibri" pitchFamily="34" charset="0"/>
                <a:ea typeface="Calibri" pitchFamily="34" charset="-122"/>
                <a:cs typeface="Calibri" pitchFamily="34" charset="-120"/>
              </a:rPr>
              <a:t>INTERNSHIP PRESENTATION</a:t>
            </a:r>
            <a:endParaRPr lang="en-US" sz="1300" dirty="0"/>
          </a:p>
        </p:txBody>
      </p:sp>
      <p:sp>
        <p:nvSpPr>
          <p:cNvPr id="9" name="Text 6"/>
          <p:cNvSpPr/>
          <p:nvPr/>
        </p:nvSpPr>
        <p:spPr>
          <a:xfrm>
            <a:off x="685800" y="2697480"/>
            <a:ext cx="9966960" cy="1600200"/>
          </a:xfrm>
          <a:prstGeom prst="rect">
            <a:avLst/>
          </a:prstGeom>
          <a:noFill/>
          <a:ln/>
        </p:spPr>
        <p:txBody>
          <a:bodyPr wrap="square" lIns="0" tIns="0" rIns="0" bIns="0" rtlCol="0" anchor="ctr"/>
          <a:lstStyle/>
          <a:p>
            <a:pPr marL="0" indent="0">
              <a:lnSpc>
                <a:spcPct val="108000"/>
              </a:lnSpc>
              <a:buNone/>
            </a:pPr>
            <a:r>
              <a:rPr lang="en-US" sz="2900" b="1" dirty="0">
                <a:solidFill>
                  <a:srgbClr val="FFFFFF"/>
                </a:solidFill>
                <a:latin typeface="Cambria" pitchFamily="34" charset="0"/>
                <a:ea typeface="Cambria" pitchFamily="34" charset="-122"/>
                <a:cs typeface="Cambria" pitchFamily="34" charset="-120"/>
              </a:rPr>
              <a:t>Web Development Internship </a:t>
            </a:r>
          </a:p>
          <a:p>
            <a:pPr marL="0" indent="0">
              <a:lnSpc>
                <a:spcPct val="108000"/>
              </a:lnSpc>
              <a:buNone/>
            </a:pPr>
            <a:r>
              <a:rPr lang="en-US" sz="2900" b="1" dirty="0">
                <a:solidFill>
                  <a:srgbClr val="FFFFFF"/>
                </a:solidFill>
                <a:latin typeface="Cambria" pitchFamily="34" charset="0"/>
                <a:ea typeface="Cambria" pitchFamily="34" charset="-122"/>
                <a:cs typeface="Cambria" pitchFamily="34" charset="-120"/>
              </a:rPr>
              <a:t>at Infiniti Tech Solution, Noida</a:t>
            </a:r>
            <a:endParaRPr lang="en-US" sz="2900" dirty="0"/>
          </a:p>
        </p:txBody>
      </p:sp>
      <p:sp>
        <p:nvSpPr>
          <p:cNvPr id="10" name="Shape 7"/>
          <p:cNvSpPr/>
          <p:nvPr/>
        </p:nvSpPr>
        <p:spPr>
          <a:xfrm>
            <a:off x="685800" y="4526280"/>
            <a:ext cx="7955280" cy="1783080"/>
          </a:xfrm>
          <a:prstGeom prst="rect">
            <a:avLst/>
          </a:prstGeom>
          <a:solidFill>
            <a:srgbClr val="141A45"/>
          </a:solidFill>
          <a:ln w="9525">
            <a:solidFill>
              <a:srgbClr val="CADCFC"/>
            </a:solidFill>
            <a:prstDash val="solid"/>
          </a:ln>
        </p:spPr>
      </p:sp>
      <p:sp>
        <p:nvSpPr>
          <p:cNvPr id="11" name="Text 8"/>
          <p:cNvSpPr/>
          <p:nvPr/>
        </p:nvSpPr>
        <p:spPr>
          <a:xfrm>
            <a:off x="914400" y="4681728"/>
            <a:ext cx="2743200" cy="365760"/>
          </a:xfrm>
          <a:prstGeom prst="rect">
            <a:avLst/>
          </a:prstGeom>
          <a:noFill/>
          <a:ln/>
        </p:spPr>
        <p:txBody>
          <a:bodyPr wrap="square" lIns="0" tIns="0" rIns="0" bIns="0" rtlCol="0" anchor="ctr"/>
          <a:lstStyle/>
          <a:p>
            <a:pPr marL="0" indent="0">
              <a:buNone/>
            </a:pPr>
            <a:r>
              <a:rPr lang="en-US" sz="1050" b="1" kern="0" spc="100" dirty="0">
                <a:solidFill>
                  <a:srgbClr val="CADCFC"/>
                </a:solidFill>
                <a:latin typeface="Calibri" pitchFamily="34" charset="0"/>
                <a:ea typeface="Calibri" pitchFamily="34" charset="-122"/>
                <a:cs typeface="Calibri" pitchFamily="34" charset="-120"/>
              </a:rPr>
              <a:t>STUDENT NAME</a:t>
            </a:r>
            <a:endParaRPr lang="en-US" sz="1050" dirty="0"/>
          </a:p>
        </p:txBody>
      </p:sp>
      <p:sp>
        <p:nvSpPr>
          <p:cNvPr id="12" name="Text 9"/>
          <p:cNvSpPr/>
          <p:nvPr/>
        </p:nvSpPr>
        <p:spPr>
          <a:xfrm>
            <a:off x="3657600" y="4681728"/>
            <a:ext cx="484632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Tanwi Singh</a:t>
            </a:r>
            <a:endParaRPr lang="en-US" sz="1250" dirty="0"/>
          </a:p>
        </p:txBody>
      </p:sp>
      <p:sp>
        <p:nvSpPr>
          <p:cNvPr id="13" name="Text 10"/>
          <p:cNvSpPr/>
          <p:nvPr/>
        </p:nvSpPr>
        <p:spPr>
          <a:xfrm>
            <a:off x="914400" y="5084064"/>
            <a:ext cx="2743200" cy="365760"/>
          </a:xfrm>
          <a:prstGeom prst="rect">
            <a:avLst/>
          </a:prstGeom>
          <a:noFill/>
          <a:ln/>
        </p:spPr>
        <p:txBody>
          <a:bodyPr wrap="square" lIns="0" tIns="0" rIns="0" bIns="0" rtlCol="0" anchor="ctr"/>
          <a:lstStyle/>
          <a:p>
            <a:pPr marL="0" indent="0">
              <a:buNone/>
            </a:pPr>
            <a:r>
              <a:rPr lang="en-US" sz="1050" b="1" kern="0" spc="100" dirty="0">
                <a:solidFill>
                  <a:srgbClr val="CADCFC"/>
                </a:solidFill>
                <a:latin typeface="Calibri" pitchFamily="34" charset="0"/>
                <a:ea typeface="Calibri" pitchFamily="34" charset="-122"/>
                <a:cs typeface="Calibri" pitchFamily="34" charset="-120"/>
              </a:rPr>
              <a:t>EROLL NUMBER</a:t>
            </a:r>
            <a:endParaRPr lang="en-US" sz="1050" dirty="0"/>
          </a:p>
        </p:txBody>
      </p:sp>
      <p:sp>
        <p:nvSpPr>
          <p:cNvPr id="14" name="Text 11"/>
          <p:cNvSpPr/>
          <p:nvPr/>
        </p:nvSpPr>
        <p:spPr>
          <a:xfrm>
            <a:off x="3657600" y="5084064"/>
            <a:ext cx="484632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CS-23411509</a:t>
            </a:r>
            <a:endParaRPr lang="en-US" sz="1250" dirty="0"/>
          </a:p>
        </p:txBody>
      </p:sp>
      <p:sp>
        <p:nvSpPr>
          <p:cNvPr id="15" name="Text 12"/>
          <p:cNvSpPr/>
          <p:nvPr/>
        </p:nvSpPr>
        <p:spPr>
          <a:xfrm>
            <a:off x="914400" y="5486400"/>
            <a:ext cx="2743200" cy="365760"/>
          </a:xfrm>
          <a:prstGeom prst="rect">
            <a:avLst/>
          </a:prstGeom>
          <a:noFill/>
          <a:ln/>
        </p:spPr>
        <p:txBody>
          <a:bodyPr wrap="square" lIns="0" tIns="0" rIns="0" bIns="0" rtlCol="0" anchor="ctr"/>
          <a:lstStyle/>
          <a:p>
            <a:pPr marL="0" indent="0">
              <a:buNone/>
            </a:pPr>
            <a:r>
              <a:rPr lang="en-US" sz="1050" b="1" kern="0" spc="100" dirty="0">
                <a:solidFill>
                  <a:srgbClr val="CADCFC"/>
                </a:solidFill>
                <a:latin typeface="Calibri" pitchFamily="34" charset="0"/>
                <a:ea typeface="Calibri" pitchFamily="34" charset="-122"/>
                <a:cs typeface="Calibri" pitchFamily="34" charset="-120"/>
              </a:rPr>
              <a:t>PROGRAM &amp; SEMESTER</a:t>
            </a:r>
            <a:endParaRPr lang="en-US" sz="1050" dirty="0"/>
          </a:p>
        </p:txBody>
      </p:sp>
      <p:sp>
        <p:nvSpPr>
          <p:cNvPr id="16" name="Text 13"/>
          <p:cNvSpPr/>
          <p:nvPr/>
        </p:nvSpPr>
        <p:spPr>
          <a:xfrm>
            <a:off x="3657600" y="5486400"/>
            <a:ext cx="484632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B.Tech CSE (AI/ML), Semester 7  |  Batch 2023–27</a:t>
            </a:r>
            <a:endParaRPr lang="en-US" sz="1250" dirty="0"/>
          </a:p>
        </p:txBody>
      </p:sp>
      <p:sp>
        <p:nvSpPr>
          <p:cNvPr id="17" name="Text 14"/>
          <p:cNvSpPr/>
          <p:nvPr/>
        </p:nvSpPr>
        <p:spPr>
          <a:xfrm>
            <a:off x="914400" y="5888736"/>
            <a:ext cx="2743200" cy="365760"/>
          </a:xfrm>
          <a:prstGeom prst="rect">
            <a:avLst/>
          </a:prstGeom>
          <a:noFill/>
          <a:ln/>
        </p:spPr>
        <p:txBody>
          <a:bodyPr wrap="square" lIns="0" tIns="0" rIns="0" bIns="0" rtlCol="0" anchor="ctr"/>
          <a:lstStyle/>
          <a:p>
            <a:pPr marL="0" indent="0">
              <a:buNone/>
            </a:pPr>
            <a:r>
              <a:rPr lang="en-US" sz="1050" b="1" kern="0" spc="100" dirty="0">
                <a:solidFill>
                  <a:srgbClr val="CADCFC"/>
                </a:solidFill>
                <a:latin typeface="Calibri" pitchFamily="34" charset="0"/>
                <a:ea typeface="Calibri" pitchFamily="34" charset="-122"/>
                <a:cs typeface="Calibri" pitchFamily="34" charset="-120"/>
              </a:rPr>
              <a:t>ORGANIZATION</a:t>
            </a:r>
            <a:endParaRPr lang="en-US" sz="1050" dirty="0"/>
          </a:p>
        </p:txBody>
      </p:sp>
      <p:sp>
        <p:nvSpPr>
          <p:cNvPr id="18" name="Text 15"/>
          <p:cNvSpPr/>
          <p:nvPr/>
        </p:nvSpPr>
        <p:spPr>
          <a:xfrm>
            <a:off x="3657600" y="5888736"/>
            <a:ext cx="484632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Infiniti Tech Solution, Noida</a:t>
            </a:r>
            <a:endParaRPr lang="en-US" sz="1250" dirty="0"/>
          </a:p>
        </p:txBody>
      </p:sp>
      <p:sp>
        <p:nvSpPr>
          <p:cNvPr id="19" name="Text 16"/>
          <p:cNvSpPr/>
          <p:nvPr/>
        </p:nvSpPr>
        <p:spPr>
          <a:xfrm>
            <a:off x="685800" y="6446520"/>
            <a:ext cx="7315200" cy="32004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Internship Duration: 01 July 2026 - 14 August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Introduction &amp; Organization Profile</a:t>
            </a:r>
            <a:endParaRPr lang="en-US" sz="2700" dirty="0"/>
          </a:p>
        </p:txBody>
      </p:sp>
      <p:sp>
        <p:nvSpPr>
          <p:cNvPr id="3" name="Shape 1"/>
          <p:cNvSpPr/>
          <p:nvPr/>
        </p:nvSpPr>
        <p:spPr>
          <a:xfrm>
            <a:off x="548640" y="1261872"/>
            <a:ext cx="11064240" cy="18288"/>
          </a:xfrm>
          <a:prstGeom prst="rect">
            <a:avLst/>
          </a:prstGeom>
          <a:solidFill>
            <a:srgbClr val="CADCFC"/>
          </a:solidFill>
          <a:ln/>
        </p:spPr>
      </p:sp>
      <p:sp>
        <p:nvSpPr>
          <p:cNvPr id="4" name="Shape 2"/>
          <p:cNvSpPr/>
          <p:nvPr/>
        </p:nvSpPr>
        <p:spPr>
          <a:xfrm>
            <a:off x="548640" y="1508760"/>
            <a:ext cx="5532120" cy="4709160"/>
          </a:xfrm>
          <a:prstGeom prst="rect">
            <a:avLst/>
          </a:prstGeom>
          <a:solidFill>
            <a:srgbClr val="F4F6FB"/>
          </a:solidFill>
          <a:ln/>
        </p:spPr>
      </p:sp>
      <p:sp>
        <p:nvSpPr>
          <p:cNvPr id="5" name="Text 3"/>
          <p:cNvSpPr/>
          <p:nvPr/>
        </p:nvSpPr>
        <p:spPr>
          <a:xfrm>
            <a:off x="777240" y="1645920"/>
            <a:ext cx="5120640" cy="292608"/>
          </a:xfrm>
          <a:prstGeom prst="rect">
            <a:avLst/>
          </a:prstGeom>
          <a:noFill/>
          <a:ln/>
        </p:spPr>
        <p:txBody>
          <a:bodyPr wrap="square" lIns="0" tIns="0" rIns="0" bIns="0" rtlCol="0" anchor="ctr"/>
          <a:lstStyle/>
          <a:p>
            <a:pPr marL="0" indent="0">
              <a:buNone/>
            </a:pPr>
            <a:r>
              <a:rPr lang="en-US" sz="1100" b="1" kern="0" spc="120" dirty="0">
                <a:solidFill>
                  <a:srgbClr val="8E1F2F"/>
                </a:solidFill>
                <a:latin typeface="Calibri" pitchFamily="34" charset="0"/>
                <a:ea typeface="Calibri" pitchFamily="34" charset="-122"/>
                <a:cs typeface="Calibri" pitchFamily="34" charset="-120"/>
              </a:rPr>
              <a:t>ABOUT THE INTERNSHIP</a:t>
            </a:r>
            <a:endParaRPr lang="en-US" sz="1100" dirty="0"/>
          </a:p>
        </p:txBody>
      </p:sp>
      <p:sp>
        <p:nvSpPr>
          <p:cNvPr id="6" name="Text 4"/>
          <p:cNvSpPr/>
          <p:nvPr/>
        </p:nvSpPr>
        <p:spPr>
          <a:xfrm>
            <a:off x="777240" y="1965960"/>
            <a:ext cx="5074920" cy="4114800"/>
          </a:xfrm>
          <a:prstGeom prst="rect">
            <a:avLst/>
          </a:prstGeom>
          <a:noFill/>
          <a:ln/>
        </p:spPr>
        <p:txBody>
          <a:bodyPr wrap="square" lIns="0" tIns="0" rIns="0" bIns="0" rtlCol="0" anchor="t"/>
          <a:lstStyle/>
          <a:p>
            <a:pPr marL="0" indent="0">
              <a:lnSpc>
                <a:spcPct val="122000"/>
              </a:lnSpc>
              <a:buNone/>
            </a:pPr>
            <a:r>
              <a:rPr lang="en-US" sz="1250" dirty="0">
                <a:solidFill>
                  <a:srgbClr val="222530"/>
                </a:solidFill>
                <a:latin typeface="Calibri" pitchFamily="34" charset="0"/>
                <a:ea typeface="Calibri" pitchFamily="34" charset="-122"/>
                <a:cs typeface="Calibri" pitchFamily="34" charset="-120"/>
              </a:rPr>
              <a:t>Undertaken at Infiniti Tech Solution, Noida, as part of the B.Tech CSE (AI/ML) curriculum at IILM University, Greater Noida.</a:t>
            </a:r>
            <a:endParaRPr lang="en-US" sz="1250" dirty="0"/>
          </a:p>
          <a:p>
            <a:pPr marL="0" indent="0">
              <a:lnSpc>
                <a:spcPct val="122000"/>
              </a:lnSpc>
              <a:buNone/>
            </a:pPr>
            <a:endParaRPr lang="en-US" sz="1250" dirty="0"/>
          </a:p>
          <a:p>
            <a:pPr marL="0" indent="0">
              <a:lnSpc>
                <a:spcPct val="122000"/>
              </a:lnSpc>
              <a:buNone/>
            </a:pPr>
            <a:r>
              <a:rPr lang="en-US" sz="1250" dirty="0">
                <a:solidFill>
                  <a:srgbClr val="222530"/>
                </a:solidFill>
                <a:latin typeface="Calibri" pitchFamily="34" charset="0"/>
                <a:ea typeface="Calibri" pitchFamily="34" charset="-122"/>
                <a:cs typeface="Calibri" pitchFamily="34" charset="-120"/>
              </a:rPr>
              <a:t>45 days, from 1 July 2026 to 14 August 2026, under the guidance of Mr. Durgesh Nagvanshi, Web Developer.</a:t>
            </a:r>
            <a:endParaRPr lang="en-US" sz="1250" dirty="0"/>
          </a:p>
          <a:p>
            <a:pPr marL="0" indent="0">
              <a:lnSpc>
                <a:spcPct val="122000"/>
              </a:lnSpc>
              <a:buNone/>
            </a:pPr>
            <a:endParaRPr lang="en-US" sz="1250" dirty="0"/>
          </a:p>
          <a:p>
            <a:pPr marL="0" indent="0">
              <a:lnSpc>
                <a:spcPct val="122000"/>
              </a:lnSpc>
              <a:buNone/>
            </a:pPr>
            <a:r>
              <a:rPr lang="en-US" sz="1250" dirty="0">
                <a:solidFill>
                  <a:srgbClr val="222530"/>
                </a:solidFill>
                <a:latin typeface="Calibri" pitchFamily="34" charset="0"/>
                <a:ea typeface="Calibri" pitchFamily="34" charset="-122"/>
                <a:cs typeface="Calibri" pitchFamily="34" charset="-120"/>
              </a:rPr>
              <a:t>Aim: gain practical, industry-level exposure to web development by contributing to the design and development of an admin portal and related website design tasks.</a:t>
            </a:r>
            <a:endParaRPr lang="en-US" sz="1250" dirty="0"/>
          </a:p>
        </p:txBody>
      </p:sp>
      <p:sp>
        <p:nvSpPr>
          <p:cNvPr id="7" name="Shape 5"/>
          <p:cNvSpPr/>
          <p:nvPr/>
        </p:nvSpPr>
        <p:spPr>
          <a:xfrm>
            <a:off x="6263640" y="1508760"/>
            <a:ext cx="5349240" cy="4709160"/>
          </a:xfrm>
          <a:prstGeom prst="rect">
            <a:avLst/>
          </a:prstGeom>
          <a:solidFill>
            <a:srgbClr val="1E2761"/>
          </a:solidFill>
          <a:ln/>
        </p:spPr>
      </p:sp>
      <p:sp>
        <p:nvSpPr>
          <p:cNvPr id="8" name="Text 6"/>
          <p:cNvSpPr/>
          <p:nvPr/>
        </p:nvSpPr>
        <p:spPr>
          <a:xfrm>
            <a:off x="6492240" y="1645920"/>
            <a:ext cx="4846320" cy="292608"/>
          </a:xfrm>
          <a:prstGeom prst="rect">
            <a:avLst/>
          </a:prstGeom>
          <a:noFill/>
          <a:ln/>
        </p:spPr>
        <p:txBody>
          <a:bodyPr wrap="square" lIns="0" tIns="0" rIns="0" bIns="0" rtlCol="0" anchor="ctr"/>
          <a:lstStyle/>
          <a:p>
            <a:pPr marL="0" indent="0">
              <a:buNone/>
            </a:pPr>
            <a:r>
              <a:rPr lang="en-US" sz="1100" b="1" kern="0" spc="120" dirty="0">
                <a:solidFill>
                  <a:srgbClr val="CADCFC"/>
                </a:solidFill>
                <a:latin typeface="Calibri" pitchFamily="34" charset="0"/>
                <a:ea typeface="Calibri" pitchFamily="34" charset="-122"/>
                <a:cs typeface="Calibri" pitchFamily="34" charset="-120"/>
              </a:rPr>
              <a:t>ORGANIZATION PROFILE</a:t>
            </a:r>
            <a:endParaRPr lang="en-US" sz="1100" dirty="0"/>
          </a:p>
        </p:txBody>
      </p:sp>
      <p:sp>
        <p:nvSpPr>
          <p:cNvPr id="9" name="Text 7"/>
          <p:cNvSpPr/>
          <p:nvPr/>
        </p:nvSpPr>
        <p:spPr>
          <a:xfrm>
            <a:off x="6492240" y="1920240"/>
            <a:ext cx="484632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Infiniti Tech Solution, Noida</a:t>
            </a:r>
            <a:endParaRPr lang="en-US" sz="1600" dirty="0"/>
          </a:p>
        </p:txBody>
      </p:sp>
      <p:sp>
        <p:nvSpPr>
          <p:cNvPr id="10" name="Text 8"/>
          <p:cNvSpPr/>
          <p:nvPr/>
        </p:nvSpPr>
        <p:spPr>
          <a:xfrm>
            <a:off x="6492240" y="2377440"/>
            <a:ext cx="4846320" cy="1554480"/>
          </a:xfrm>
          <a:prstGeom prst="rect">
            <a:avLst/>
          </a:prstGeom>
          <a:noFill/>
          <a:ln/>
        </p:spPr>
        <p:txBody>
          <a:bodyPr wrap="square" lIns="0" tIns="0" rIns="0" bIns="0" rtlCol="0" anchor="t"/>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A Noida-based IT services company established in 2012, delivering technology-driven solutions across web &amp; mobile app development, digital marketing (SEO, PPC, social), and managed IT support for startups, SMEs, and larger enterprises.</a:t>
            </a:r>
            <a:endParaRPr lang="en-US" sz="1200" dirty="0"/>
          </a:p>
        </p:txBody>
      </p:sp>
      <p:sp>
        <p:nvSpPr>
          <p:cNvPr id="11" name="Shape 9"/>
          <p:cNvSpPr/>
          <p:nvPr/>
        </p:nvSpPr>
        <p:spPr>
          <a:xfrm>
            <a:off x="6492240" y="4123944"/>
            <a:ext cx="146304" cy="146304"/>
          </a:xfrm>
          <a:prstGeom prst="ellipse">
            <a:avLst/>
          </a:prstGeom>
          <a:solidFill>
            <a:srgbClr val="FFFFFF"/>
          </a:solidFill>
          <a:ln/>
        </p:spPr>
      </p:sp>
      <p:sp>
        <p:nvSpPr>
          <p:cNvPr id="12" name="Text 10"/>
          <p:cNvSpPr/>
          <p:nvPr/>
        </p:nvSpPr>
        <p:spPr>
          <a:xfrm>
            <a:off x="6766560" y="3977640"/>
            <a:ext cx="44805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Web &amp; Mobile App Development</a:t>
            </a:r>
            <a:endParaRPr lang="en-US" sz="1200" dirty="0"/>
          </a:p>
        </p:txBody>
      </p:sp>
      <p:sp>
        <p:nvSpPr>
          <p:cNvPr id="13" name="Shape 11"/>
          <p:cNvSpPr/>
          <p:nvPr/>
        </p:nvSpPr>
        <p:spPr>
          <a:xfrm>
            <a:off x="6492240" y="4581144"/>
            <a:ext cx="146304" cy="146304"/>
          </a:xfrm>
          <a:prstGeom prst="ellipse">
            <a:avLst/>
          </a:prstGeom>
          <a:solidFill>
            <a:srgbClr val="FFFFFF"/>
          </a:solidFill>
          <a:ln/>
        </p:spPr>
      </p:sp>
      <p:sp>
        <p:nvSpPr>
          <p:cNvPr id="14" name="Text 12"/>
          <p:cNvSpPr/>
          <p:nvPr/>
        </p:nvSpPr>
        <p:spPr>
          <a:xfrm>
            <a:off x="6766560" y="4434840"/>
            <a:ext cx="44805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Digital Marketing (SEO/PPC/Social)</a:t>
            </a:r>
            <a:endParaRPr lang="en-US" sz="1200" dirty="0"/>
          </a:p>
        </p:txBody>
      </p:sp>
      <p:sp>
        <p:nvSpPr>
          <p:cNvPr id="15" name="Shape 13"/>
          <p:cNvSpPr/>
          <p:nvPr/>
        </p:nvSpPr>
        <p:spPr>
          <a:xfrm>
            <a:off x="6492240" y="5038344"/>
            <a:ext cx="146304" cy="146304"/>
          </a:xfrm>
          <a:prstGeom prst="ellipse">
            <a:avLst/>
          </a:prstGeom>
          <a:solidFill>
            <a:srgbClr val="FFFFFF"/>
          </a:solidFill>
          <a:ln/>
        </p:spPr>
      </p:sp>
      <p:sp>
        <p:nvSpPr>
          <p:cNvPr id="16" name="Text 14"/>
          <p:cNvSpPr/>
          <p:nvPr/>
        </p:nvSpPr>
        <p:spPr>
          <a:xfrm>
            <a:off x="6766560" y="4892040"/>
            <a:ext cx="44805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Managed IT Support</a:t>
            </a:r>
            <a:endParaRPr lang="en-US" sz="1200" dirty="0"/>
          </a:p>
        </p:txBody>
      </p:sp>
      <p:sp>
        <p:nvSpPr>
          <p:cNvPr id="17" name="Shape 15"/>
          <p:cNvSpPr/>
          <p:nvPr/>
        </p:nvSpPr>
        <p:spPr>
          <a:xfrm>
            <a:off x="6492240" y="5495544"/>
            <a:ext cx="146304" cy="146304"/>
          </a:xfrm>
          <a:prstGeom prst="ellipse">
            <a:avLst/>
          </a:prstGeom>
          <a:solidFill>
            <a:srgbClr val="FFFFFF"/>
          </a:solidFill>
          <a:ln/>
        </p:spPr>
      </p:sp>
      <p:sp>
        <p:nvSpPr>
          <p:cNvPr id="18" name="Text 16"/>
          <p:cNvSpPr/>
          <p:nvPr/>
        </p:nvSpPr>
        <p:spPr>
          <a:xfrm>
            <a:off x="6766560" y="5349240"/>
            <a:ext cx="44805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UI/UX &amp; Admin Portal Solutions</a:t>
            </a:r>
            <a:endParaRPr lang="en-US" sz="1200" dirty="0"/>
          </a:p>
        </p:txBody>
      </p:sp>
      <p:sp>
        <p:nvSpPr>
          <p:cNvPr id="20" name="Text 18"/>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Problem Statement &amp; Objectives</a:t>
            </a:r>
            <a:endParaRPr lang="en-US" sz="2700" dirty="0"/>
          </a:p>
        </p:txBody>
      </p:sp>
      <p:sp>
        <p:nvSpPr>
          <p:cNvPr id="3" name="Shape 1"/>
          <p:cNvSpPr/>
          <p:nvPr/>
        </p:nvSpPr>
        <p:spPr>
          <a:xfrm>
            <a:off x="548640" y="1261872"/>
            <a:ext cx="11064240" cy="18288"/>
          </a:xfrm>
          <a:prstGeom prst="rect">
            <a:avLst/>
          </a:prstGeom>
          <a:solidFill>
            <a:srgbClr val="CADCFC"/>
          </a:solidFill>
          <a:ln/>
        </p:spPr>
      </p:sp>
      <p:sp>
        <p:nvSpPr>
          <p:cNvPr id="4" name="Shape 2"/>
          <p:cNvSpPr/>
          <p:nvPr/>
        </p:nvSpPr>
        <p:spPr>
          <a:xfrm>
            <a:off x="548640" y="1508760"/>
            <a:ext cx="11064240" cy="1417320"/>
          </a:xfrm>
          <a:prstGeom prst="rect">
            <a:avLst/>
          </a:prstGeom>
          <a:solidFill>
            <a:srgbClr val="F4F6FB"/>
          </a:solidFill>
          <a:ln/>
        </p:spPr>
      </p:sp>
      <p:sp>
        <p:nvSpPr>
          <p:cNvPr id="5" name="Shape 3"/>
          <p:cNvSpPr/>
          <p:nvPr/>
        </p:nvSpPr>
        <p:spPr>
          <a:xfrm>
            <a:off x="548640" y="1508760"/>
            <a:ext cx="11064240" cy="91440"/>
          </a:xfrm>
          <a:prstGeom prst="rect">
            <a:avLst/>
          </a:prstGeom>
          <a:solidFill>
            <a:srgbClr val="8E1F2F"/>
          </a:solidFill>
          <a:ln/>
        </p:spPr>
      </p:sp>
      <p:sp>
        <p:nvSpPr>
          <p:cNvPr id="6" name="Text 4"/>
          <p:cNvSpPr/>
          <p:nvPr/>
        </p:nvSpPr>
        <p:spPr>
          <a:xfrm>
            <a:off x="822960" y="1691640"/>
            <a:ext cx="10515600" cy="1143000"/>
          </a:xfrm>
          <a:prstGeom prst="rect">
            <a:avLst/>
          </a:prstGeom>
          <a:noFill/>
          <a:ln/>
        </p:spPr>
        <p:txBody>
          <a:bodyPr wrap="square" lIns="0" tIns="0" rIns="0" bIns="0" rtlCol="0" anchor="t"/>
          <a:lstStyle/>
          <a:p>
            <a:pPr marL="0" indent="0">
              <a:lnSpc>
                <a:spcPct val="122000"/>
              </a:lnSpc>
              <a:buNone/>
            </a:pPr>
            <a:r>
              <a:rPr lang="en-US" sz="1250" dirty="0">
                <a:solidFill>
                  <a:srgbClr val="222530"/>
                </a:solidFill>
                <a:latin typeface="Calibri" pitchFamily="34" charset="0"/>
                <a:ea typeface="Calibri" pitchFamily="34" charset="-122"/>
                <a:cs typeface="Calibri" pitchFamily="34" charset="-120"/>
              </a:rPr>
              <a:t>Problem: The organization helped me develop a properly structured, responsive frontend for an internal admin portal (authentication, dashboard, CMS), and  structured UI/responsiveness review- informal observation suggested layout inconsistencies across screen sizes.</a:t>
            </a:r>
            <a:endParaRPr lang="en-US" sz="1250" dirty="0"/>
          </a:p>
        </p:txBody>
      </p:sp>
      <p:sp>
        <p:nvSpPr>
          <p:cNvPr id="7" name="Text 5"/>
          <p:cNvSpPr/>
          <p:nvPr/>
        </p:nvSpPr>
        <p:spPr>
          <a:xfrm>
            <a:off x="548640" y="3108960"/>
            <a:ext cx="5486400" cy="320040"/>
          </a:xfrm>
          <a:prstGeom prst="rect">
            <a:avLst/>
          </a:prstGeom>
          <a:noFill/>
          <a:ln/>
        </p:spPr>
        <p:txBody>
          <a:bodyPr wrap="square" lIns="0" tIns="0" rIns="0" bIns="0" rtlCol="0" anchor="ctr"/>
          <a:lstStyle/>
          <a:p>
            <a:pPr marL="0" indent="0">
              <a:buNone/>
            </a:pPr>
            <a:r>
              <a:rPr lang="en-US" sz="1200" b="1" kern="0" spc="120" dirty="0">
                <a:solidFill>
                  <a:srgbClr val="8E1F2F"/>
                </a:solidFill>
                <a:latin typeface="Calibri" pitchFamily="34" charset="0"/>
                <a:ea typeface="Calibri" pitchFamily="34" charset="-122"/>
                <a:cs typeface="Calibri" pitchFamily="34" charset="-120"/>
              </a:rPr>
              <a:t>PROJECT OBJECTIVES</a:t>
            </a:r>
            <a:endParaRPr lang="en-US" sz="1200" dirty="0"/>
          </a:p>
        </p:txBody>
      </p:sp>
      <p:sp>
        <p:nvSpPr>
          <p:cNvPr id="8" name="Shape 6"/>
          <p:cNvSpPr/>
          <p:nvPr/>
        </p:nvSpPr>
        <p:spPr>
          <a:xfrm>
            <a:off x="548640" y="3456432"/>
            <a:ext cx="11064240" cy="566928"/>
          </a:xfrm>
          <a:prstGeom prst="rect">
            <a:avLst/>
          </a:prstGeom>
          <a:solidFill>
            <a:srgbClr val="EDF1FA"/>
          </a:solidFill>
          <a:ln/>
        </p:spPr>
      </p:sp>
      <p:sp>
        <p:nvSpPr>
          <p:cNvPr id="9" name="Shape 7"/>
          <p:cNvSpPr/>
          <p:nvPr/>
        </p:nvSpPr>
        <p:spPr>
          <a:xfrm>
            <a:off x="731520" y="3566160"/>
            <a:ext cx="347472" cy="347472"/>
          </a:xfrm>
          <a:prstGeom prst="ellipse">
            <a:avLst/>
          </a:prstGeom>
          <a:solidFill>
            <a:srgbClr val="1E2761"/>
          </a:solidFill>
          <a:ln/>
        </p:spPr>
      </p:sp>
      <p:sp>
        <p:nvSpPr>
          <p:cNvPr id="10" name="Text 8"/>
          <p:cNvSpPr/>
          <p:nvPr/>
        </p:nvSpPr>
        <p:spPr>
          <a:xfrm>
            <a:off x="731520" y="3566160"/>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1" name="Text 9"/>
          <p:cNvSpPr/>
          <p:nvPr/>
        </p:nvSpPr>
        <p:spPr>
          <a:xfrm>
            <a:off x="1280160" y="3456432"/>
            <a:ext cx="10149840" cy="566928"/>
          </a:xfrm>
          <a:prstGeom prst="rect">
            <a:avLst/>
          </a:prstGeom>
          <a:noFill/>
          <a:ln/>
        </p:spPr>
        <p:txBody>
          <a:bodyPr wrap="square" lIns="0" tIns="0" rIns="0" bIns="0" rtlCol="0" anchor="ctr"/>
          <a:lstStyle/>
          <a:p>
            <a:pPr marL="0" indent="0">
              <a:buNone/>
            </a:pPr>
            <a:r>
              <a:rPr lang="en-US" sz="1200" dirty="0">
                <a:solidFill>
                  <a:srgbClr val="222530"/>
                </a:solidFill>
                <a:latin typeface="Calibri" pitchFamily="34" charset="0"/>
                <a:ea typeface="Calibri" pitchFamily="34" charset="-122"/>
                <a:cs typeface="Calibri" pitchFamily="34" charset="-120"/>
              </a:rPr>
              <a:t>Design and independently develop the complete admin-portal frontend - auth, dashboard, CMS.</a:t>
            </a:r>
            <a:endParaRPr lang="en-US" sz="1200" dirty="0"/>
          </a:p>
        </p:txBody>
      </p:sp>
      <p:sp>
        <p:nvSpPr>
          <p:cNvPr id="12" name="Shape 10"/>
          <p:cNvSpPr/>
          <p:nvPr/>
        </p:nvSpPr>
        <p:spPr>
          <a:xfrm>
            <a:off x="548640" y="4078224"/>
            <a:ext cx="11064240" cy="566928"/>
          </a:xfrm>
          <a:prstGeom prst="rect">
            <a:avLst/>
          </a:prstGeom>
          <a:solidFill>
            <a:srgbClr val="F4F6FB"/>
          </a:solidFill>
          <a:ln/>
        </p:spPr>
      </p:sp>
      <p:sp>
        <p:nvSpPr>
          <p:cNvPr id="13" name="Shape 11"/>
          <p:cNvSpPr/>
          <p:nvPr/>
        </p:nvSpPr>
        <p:spPr>
          <a:xfrm>
            <a:off x="731520" y="4187952"/>
            <a:ext cx="347472" cy="347472"/>
          </a:xfrm>
          <a:prstGeom prst="ellipse">
            <a:avLst/>
          </a:prstGeom>
          <a:solidFill>
            <a:srgbClr val="1E2761"/>
          </a:solidFill>
          <a:ln/>
        </p:spPr>
      </p:sp>
      <p:sp>
        <p:nvSpPr>
          <p:cNvPr id="14" name="Text 12"/>
          <p:cNvSpPr/>
          <p:nvPr/>
        </p:nvSpPr>
        <p:spPr>
          <a:xfrm>
            <a:off x="731520" y="4187952"/>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1280160" y="4078224"/>
            <a:ext cx="10149840" cy="566928"/>
          </a:xfrm>
          <a:prstGeom prst="rect">
            <a:avLst/>
          </a:prstGeom>
          <a:noFill/>
          <a:ln/>
        </p:spPr>
        <p:txBody>
          <a:bodyPr wrap="square" lIns="0" tIns="0" rIns="0" bIns="0" rtlCol="0" anchor="ctr"/>
          <a:lstStyle/>
          <a:p>
            <a:pPr marL="0" indent="0">
              <a:buNone/>
            </a:pPr>
            <a:r>
              <a:rPr lang="en-US" sz="1200" dirty="0">
                <a:solidFill>
                  <a:srgbClr val="222530"/>
                </a:solidFill>
                <a:latin typeface="Calibri" pitchFamily="34" charset="0"/>
                <a:ea typeface="Calibri" pitchFamily="34" charset="-122"/>
                <a:cs typeface="Calibri" pitchFamily="34" charset="-120"/>
              </a:rPr>
              <a:t>Ensure a clean, consistent, responsive interface across common screen sizes.</a:t>
            </a:r>
            <a:endParaRPr lang="en-US" sz="1200" dirty="0"/>
          </a:p>
        </p:txBody>
      </p:sp>
      <p:sp>
        <p:nvSpPr>
          <p:cNvPr id="16" name="Shape 14"/>
          <p:cNvSpPr/>
          <p:nvPr/>
        </p:nvSpPr>
        <p:spPr>
          <a:xfrm>
            <a:off x="548640" y="4700016"/>
            <a:ext cx="11064240" cy="566928"/>
          </a:xfrm>
          <a:prstGeom prst="rect">
            <a:avLst/>
          </a:prstGeom>
          <a:solidFill>
            <a:srgbClr val="EDF1FA"/>
          </a:solidFill>
          <a:ln/>
        </p:spPr>
      </p:sp>
      <p:sp>
        <p:nvSpPr>
          <p:cNvPr id="17" name="Shape 15"/>
          <p:cNvSpPr/>
          <p:nvPr/>
        </p:nvSpPr>
        <p:spPr>
          <a:xfrm>
            <a:off x="731520" y="4809744"/>
            <a:ext cx="347472" cy="347472"/>
          </a:xfrm>
          <a:prstGeom prst="ellipse">
            <a:avLst/>
          </a:prstGeom>
          <a:solidFill>
            <a:srgbClr val="1E2761"/>
          </a:solidFill>
          <a:ln/>
        </p:spPr>
      </p:sp>
      <p:sp>
        <p:nvSpPr>
          <p:cNvPr id="18" name="Text 16"/>
          <p:cNvSpPr/>
          <p:nvPr/>
        </p:nvSpPr>
        <p:spPr>
          <a:xfrm>
            <a:off x="731520" y="4809744"/>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9" name="Text 17"/>
          <p:cNvSpPr/>
          <p:nvPr/>
        </p:nvSpPr>
        <p:spPr>
          <a:xfrm>
            <a:off x="1280160" y="4700016"/>
            <a:ext cx="10149840" cy="566928"/>
          </a:xfrm>
          <a:prstGeom prst="rect">
            <a:avLst/>
          </a:prstGeom>
          <a:noFill/>
          <a:ln/>
        </p:spPr>
        <p:txBody>
          <a:bodyPr wrap="square" lIns="0" tIns="0" rIns="0" bIns="0" rtlCol="0" anchor="ctr"/>
          <a:lstStyle/>
          <a:p>
            <a:pPr marL="0" indent="0">
              <a:buNone/>
            </a:pPr>
            <a:r>
              <a:rPr lang="en-US" sz="1200" dirty="0">
                <a:solidFill>
                  <a:srgbClr val="222530"/>
                </a:solidFill>
                <a:latin typeface="Calibri" pitchFamily="34" charset="0"/>
                <a:ea typeface="Calibri" pitchFamily="34" charset="-122"/>
                <a:cs typeface="Calibri" pitchFamily="34" charset="-120"/>
              </a:rPr>
              <a:t>Conduct a structured UI/responsive website.</a:t>
            </a:r>
            <a:endParaRPr lang="en-US" sz="1200" dirty="0"/>
          </a:p>
        </p:txBody>
      </p:sp>
      <p:sp>
        <p:nvSpPr>
          <p:cNvPr id="20" name="Shape 18"/>
          <p:cNvSpPr/>
          <p:nvPr/>
        </p:nvSpPr>
        <p:spPr>
          <a:xfrm>
            <a:off x="548640" y="5321808"/>
            <a:ext cx="11064240" cy="566928"/>
          </a:xfrm>
          <a:prstGeom prst="rect">
            <a:avLst/>
          </a:prstGeom>
          <a:solidFill>
            <a:srgbClr val="F4F6FB"/>
          </a:solidFill>
          <a:ln/>
        </p:spPr>
      </p:sp>
      <p:sp>
        <p:nvSpPr>
          <p:cNvPr id="21" name="Shape 19"/>
          <p:cNvSpPr/>
          <p:nvPr/>
        </p:nvSpPr>
        <p:spPr>
          <a:xfrm>
            <a:off x="731520" y="5431536"/>
            <a:ext cx="347472" cy="347472"/>
          </a:xfrm>
          <a:prstGeom prst="ellipse">
            <a:avLst/>
          </a:prstGeom>
          <a:solidFill>
            <a:srgbClr val="1E2761"/>
          </a:solidFill>
          <a:ln/>
        </p:spPr>
      </p:sp>
      <p:sp>
        <p:nvSpPr>
          <p:cNvPr id="22" name="Text 20"/>
          <p:cNvSpPr/>
          <p:nvPr/>
        </p:nvSpPr>
        <p:spPr>
          <a:xfrm>
            <a:off x="731520" y="5431536"/>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3" name="Text 21"/>
          <p:cNvSpPr/>
          <p:nvPr/>
        </p:nvSpPr>
        <p:spPr>
          <a:xfrm>
            <a:off x="1280160" y="5321808"/>
            <a:ext cx="10149840" cy="566928"/>
          </a:xfrm>
          <a:prstGeom prst="rect">
            <a:avLst/>
          </a:prstGeom>
          <a:noFill/>
          <a:ln/>
        </p:spPr>
        <p:txBody>
          <a:bodyPr wrap="square" lIns="0" tIns="0" rIns="0" bIns="0" rtlCol="0" anchor="ctr"/>
          <a:lstStyle/>
          <a:p>
            <a:pPr marL="0" indent="0">
              <a:buNone/>
            </a:pPr>
            <a:r>
              <a:rPr lang="en-US" sz="1200" dirty="0">
                <a:solidFill>
                  <a:srgbClr val="222530"/>
                </a:solidFill>
                <a:latin typeface="Calibri" pitchFamily="34" charset="0"/>
                <a:ea typeface="Calibri" pitchFamily="34" charset="-122"/>
                <a:cs typeface="Calibri" pitchFamily="34" charset="-120"/>
              </a:rPr>
              <a:t>Strengthen practical skills in JavaScript and Tailwind CSS.</a:t>
            </a:r>
            <a:endParaRPr lang="en-US" sz="1200" dirty="0"/>
          </a:p>
        </p:txBody>
      </p:sp>
      <p:sp>
        <p:nvSpPr>
          <p:cNvPr id="29" name="Text 27"/>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Scope &amp; Technologies Used</a:t>
            </a:r>
            <a:endParaRPr lang="en-US" sz="2700" dirty="0"/>
          </a:p>
        </p:txBody>
      </p:sp>
      <p:sp>
        <p:nvSpPr>
          <p:cNvPr id="3" name="Shape 1"/>
          <p:cNvSpPr/>
          <p:nvPr/>
        </p:nvSpPr>
        <p:spPr>
          <a:xfrm>
            <a:off x="548640" y="1261872"/>
            <a:ext cx="11064240" cy="18288"/>
          </a:xfrm>
          <a:prstGeom prst="rect">
            <a:avLst/>
          </a:prstGeom>
          <a:solidFill>
            <a:srgbClr val="CADCFC"/>
          </a:solidFill>
          <a:ln/>
        </p:spPr>
      </p:sp>
      <p:sp>
        <p:nvSpPr>
          <p:cNvPr id="4" name="Shape 2"/>
          <p:cNvSpPr/>
          <p:nvPr/>
        </p:nvSpPr>
        <p:spPr>
          <a:xfrm>
            <a:off x="548640" y="1508760"/>
            <a:ext cx="4206240" cy="2286000"/>
          </a:xfrm>
          <a:prstGeom prst="rect">
            <a:avLst/>
          </a:prstGeom>
          <a:solidFill>
            <a:srgbClr val="F4F6FB"/>
          </a:solidFill>
          <a:ln/>
        </p:spPr>
      </p:sp>
      <p:sp>
        <p:nvSpPr>
          <p:cNvPr id="5" name="Shape 3"/>
          <p:cNvSpPr/>
          <p:nvPr/>
        </p:nvSpPr>
        <p:spPr>
          <a:xfrm>
            <a:off x="548640" y="1508760"/>
            <a:ext cx="4206240" cy="457200"/>
          </a:xfrm>
          <a:prstGeom prst="rect">
            <a:avLst/>
          </a:prstGeom>
          <a:solidFill>
            <a:srgbClr val="1E2761"/>
          </a:solidFill>
          <a:ln/>
        </p:spPr>
      </p:sp>
      <p:sp>
        <p:nvSpPr>
          <p:cNvPr id="6" name="Text 4"/>
          <p:cNvSpPr/>
          <p:nvPr/>
        </p:nvSpPr>
        <p:spPr>
          <a:xfrm>
            <a:off x="548640" y="1508760"/>
            <a:ext cx="420624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 SCOPE</a:t>
            </a:r>
            <a:endParaRPr lang="en-US" sz="1200" dirty="0"/>
          </a:p>
        </p:txBody>
      </p:sp>
      <p:sp>
        <p:nvSpPr>
          <p:cNvPr id="7" name="Shape 5"/>
          <p:cNvSpPr/>
          <p:nvPr/>
        </p:nvSpPr>
        <p:spPr>
          <a:xfrm>
            <a:off x="777240" y="2176272"/>
            <a:ext cx="137160" cy="137160"/>
          </a:xfrm>
          <a:prstGeom prst="ellipse">
            <a:avLst/>
          </a:prstGeom>
          <a:solidFill>
            <a:srgbClr val="1E2761"/>
          </a:solidFill>
          <a:ln/>
        </p:spPr>
      </p:sp>
      <p:sp>
        <p:nvSpPr>
          <p:cNvPr id="8" name="Text 6"/>
          <p:cNvSpPr/>
          <p:nvPr/>
        </p:nvSpPr>
        <p:spPr>
          <a:xfrm>
            <a:off x="1005840" y="2048256"/>
            <a:ext cx="3657600" cy="411480"/>
          </a:xfrm>
          <a:prstGeom prst="rect">
            <a:avLst/>
          </a:prstGeom>
          <a:noFill/>
          <a:ln/>
        </p:spPr>
        <p:txBody>
          <a:bodyPr wrap="square" lIns="0" tIns="0" rIns="0" bIns="0" rtlCol="0" anchor="ctr"/>
          <a:lstStyle/>
          <a:p>
            <a:pPr marL="0" indent="0">
              <a:buNone/>
            </a:pPr>
            <a:r>
              <a:rPr lang="en-US" sz="1150" dirty="0">
                <a:solidFill>
                  <a:srgbClr val="222530"/>
                </a:solidFill>
                <a:latin typeface="Calibri" pitchFamily="34" charset="0"/>
                <a:ea typeface="Calibri" pitchFamily="34" charset="-122"/>
                <a:cs typeface="Calibri" pitchFamily="34" charset="-120"/>
              </a:rPr>
              <a:t>Login / authentication screens</a:t>
            </a:r>
            <a:endParaRPr lang="en-US" sz="1150" dirty="0"/>
          </a:p>
        </p:txBody>
      </p:sp>
      <p:sp>
        <p:nvSpPr>
          <p:cNvPr id="9" name="Shape 7"/>
          <p:cNvSpPr/>
          <p:nvPr/>
        </p:nvSpPr>
        <p:spPr>
          <a:xfrm>
            <a:off x="777240" y="2679192"/>
            <a:ext cx="137160" cy="137160"/>
          </a:xfrm>
          <a:prstGeom prst="ellipse">
            <a:avLst/>
          </a:prstGeom>
          <a:solidFill>
            <a:srgbClr val="1E2761"/>
          </a:solidFill>
          <a:ln/>
        </p:spPr>
      </p:sp>
      <p:sp>
        <p:nvSpPr>
          <p:cNvPr id="10" name="Text 8"/>
          <p:cNvSpPr/>
          <p:nvPr/>
        </p:nvSpPr>
        <p:spPr>
          <a:xfrm>
            <a:off x="1005840" y="2551176"/>
            <a:ext cx="3657600" cy="411480"/>
          </a:xfrm>
          <a:prstGeom prst="rect">
            <a:avLst/>
          </a:prstGeom>
          <a:noFill/>
          <a:ln/>
        </p:spPr>
        <p:txBody>
          <a:bodyPr wrap="square" lIns="0" tIns="0" rIns="0" bIns="0" rtlCol="0" anchor="ctr"/>
          <a:lstStyle/>
          <a:p>
            <a:pPr marL="0" indent="0">
              <a:buNone/>
            </a:pPr>
            <a:r>
              <a:rPr lang="en-US" sz="1150" dirty="0">
                <a:solidFill>
                  <a:srgbClr val="222530"/>
                </a:solidFill>
                <a:latin typeface="Calibri" pitchFamily="34" charset="0"/>
                <a:ea typeface="Calibri" pitchFamily="34" charset="-122"/>
                <a:cs typeface="Calibri" pitchFamily="34" charset="-120"/>
              </a:rPr>
              <a:t>Dashboard &amp; CMS pages</a:t>
            </a:r>
            <a:endParaRPr lang="en-US" sz="1150" dirty="0"/>
          </a:p>
        </p:txBody>
      </p:sp>
      <p:sp>
        <p:nvSpPr>
          <p:cNvPr id="11" name="Shape 9"/>
          <p:cNvSpPr/>
          <p:nvPr/>
        </p:nvSpPr>
        <p:spPr>
          <a:xfrm>
            <a:off x="777240" y="3182112"/>
            <a:ext cx="137160" cy="137160"/>
          </a:xfrm>
          <a:prstGeom prst="ellipse">
            <a:avLst/>
          </a:prstGeom>
          <a:solidFill>
            <a:srgbClr val="1E2761"/>
          </a:solidFill>
          <a:ln/>
        </p:spPr>
      </p:sp>
      <p:sp>
        <p:nvSpPr>
          <p:cNvPr id="12" name="Text 10"/>
          <p:cNvSpPr/>
          <p:nvPr/>
        </p:nvSpPr>
        <p:spPr>
          <a:xfrm>
            <a:off x="1005840" y="3054096"/>
            <a:ext cx="3657600" cy="411480"/>
          </a:xfrm>
          <a:prstGeom prst="rect">
            <a:avLst/>
          </a:prstGeom>
          <a:noFill/>
          <a:ln/>
        </p:spPr>
        <p:txBody>
          <a:bodyPr wrap="square" lIns="0" tIns="0" rIns="0" bIns="0" rtlCol="0" anchor="ctr"/>
          <a:lstStyle/>
          <a:p>
            <a:pPr marL="0" indent="0">
              <a:buNone/>
            </a:pPr>
            <a:r>
              <a:rPr lang="en-US" sz="1150" dirty="0">
                <a:solidFill>
                  <a:srgbClr val="222530"/>
                </a:solidFill>
                <a:latin typeface="Calibri" pitchFamily="34" charset="0"/>
                <a:ea typeface="Calibri" pitchFamily="34" charset="-122"/>
                <a:cs typeface="Calibri" pitchFamily="34" charset="-120"/>
              </a:rPr>
              <a:t>UI/responsive audit (desktop, tablet, mobile)</a:t>
            </a:r>
            <a:endParaRPr lang="en-US" sz="1150" dirty="0"/>
          </a:p>
        </p:txBody>
      </p:sp>
      <p:sp>
        <p:nvSpPr>
          <p:cNvPr id="13" name="Shape 11"/>
          <p:cNvSpPr/>
          <p:nvPr/>
        </p:nvSpPr>
        <p:spPr>
          <a:xfrm>
            <a:off x="548640" y="3977640"/>
            <a:ext cx="4206240" cy="1618488"/>
          </a:xfrm>
          <a:prstGeom prst="rect">
            <a:avLst/>
          </a:prstGeom>
          <a:solidFill>
            <a:srgbClr val="F4F6FB"/>
          </a:solidFill>
          <a:ln/>
        </p:spPr>
        <p:txBody>
          <a:bodyPr/>
          <a:lstStyle/>
          <a:p>
            <a:endParaRPr lang="en-IN" dirty="0"/>
          </a:p>
        </p:txBody>
      </p:sp>
      <p:sp>
        <p:nvSpPr>
          <p:cNvPr id="14" name="Shape 12"/>
          <p:cNvSpPr/>
          <p:nvPr/>
        </p:nvSpPr>
        <p:spPr>
          <a:xfrm>
            <a:off x="548640" y="3977640"/>
            <a:ext cx="4206240" cy="457200"/>
          </a:xfrm>
          <a:prstGeom prst="rect">
            <a:avLst/>
          </a:prstGeom>
          <a:solidFill>
            <a:srgbClr val="8E1F2F"/>
          </a:solidFill>
          <a:ln/>
        </p:spPr>
      </p:sp>
      <p:sp>
        <p:nvSpPr>
          <p:cNvPr id="15" name="Text 13"/>
          <p:cNvSpPr/>
          <p:nvPr/>
        </p:nvSpPr>
        <p:spPr>
          <a:xfrm>
            <a:off x="548640" y="3977640"/>
            <a:ext cx="420624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OUTSIDE SCOPE</a:t>
            </a:r>
            <a:endParaRPr lang="en-US" sz="1200" dirty="0"/>
          </a:p>
        </p:txBody>
      </p:sp>
      <p:sp>
        <p:nvSpPr>
          <p:cNvPr id="16" name="Shape 14"/>
          <p:cNvSpPr/>
          <p:nvPr/>
        </p:nvSpPr>
        <p:spPr>
          <a:xfrm>
            <a:off x="777240" y="4645152"/>
            <a:ext cx="137160" cy="137160"/>
          </a:xfrm>
          <a:prstGeom prst="ellipse">
            <a:avLst/>
          </a:prstGeom>
          <a:solidFill>
            <a:srgbClr val="8E1F2F"/>
          </a:solidFill>
          <a:ln/>
        </p:spPr>
      </p:sp>
      <p:sp>
        <p:nvSpPr>
          <p:cNvPr id="17" name="Text 15"/>
          <p:cNvSpPr/>
          <p:nvPr/>
        </p:nvSpPr>
        <p:spPr>
          <a:xfrm>
            <a:off x="1005840" y="4517136"/>
            <a:ext cx="3657600" cy="457200"/>
          </a:xfrm>
          <a:prstGeom prst="rect">
            <a:avLst/>
          </a:prstGeom>
          <a:noFill/>
          <a:ln/>
        </p:spPr>
        <p:txBody>
          <a:bodyPr wrap="square" lIns="0" tIns="0" rIns="0" bIns="0" rtlCol="0" anchor="ctr"/>
          <a:lstStyle/>
          <a:p>
            <a:pPr marL="0" indent="0">
              <a:buNone/>
            </a:pPr>
            <a:r>
              <a:rPr lang="en-US" sz="1150" dirty="0">
                <a:solidFill>
                  <a:srgbClr val="222530"/>
                </a:solidFill>
                <a:latin typeface="Calibri" pitchFamily="34" charset="0"/>
                <a:ea typeface="Calibri" pitchFamily="34" charset="-122"/>
                <a:cs typeface="Calibri" pitchFamily="34" charset="-120"/>
              </a:rPr>
              <a:t>Backend logic</a:t>
            </a:r>
            <a:endParaRPr lang="en-US" sz="1150" dirty="0"/>
          </a:p>
        </p:txBody>
      </p:sp>
      <p:sp>
        <p:nvSpPr>
          <p:cNvPr id="18" name="Shape 16"/>
          <p:cNvSpPr/>
          <p:nvPr/>
        </p:nvSpPr>
        <p:spPr>
          <a:xfrm>
            <a:off x="777240" y="5193792"/>
            <a:ext cx="137160" cy="137160"/>
          </a:xfrm>
          <a:prstGeom prst="ellipse">
            <a:avLst/>
          </a:prstGeom>
          <a:solidFill>
            <a:srgbClr val="8E1F2F"/>
          </a:solidFill>
          <a:ln/>
        </p:spPr>
      </p:sp>
      <p:sp>
        <p:nvSpPr>
          <p:cNvPr id="19" name="Text 17"/>
          <p:cNvSpPr/>
          <p:nvPr/>
        </p:nvSpPr>
        <p:spPr>
          <a:xfrm>
            <a:off x="1005840" y="5065776"/>
            <a:ext cx="3657600" cy="457200"/>
          </a:xfrm>
          <a:prstGeom prst="rect">
            <a:avLst/>
          </a:prstGeom>
          <a:noFill/>
          <a:ln/>
        </p:spPr>
        <p:txBody>
          <a:bodyPr wrap="square" lIns="0" tIns="0" rIns="0" bIns="0" rtlCol="0" anchor="ctr"/>
          <a:lstStyle/>
          <a:p>
            <a:pPr marL="0" indent="0">
              <a:buNone/>
            </a:pPr>
            <a:r>
              <a:rPr lang="en-US" sz="1150" dirty="0">
                <a:solidFill>
                  <a:srgbClr val="222530"/>
                </a:solidFill>
                <a:latin typeface="Calibri" pitchFamily="34" charset="0"/>
                <a:ea typeface="Calibri" pitchFamily="34" charset="-122"/>
                <a:cs typeface="Calibri" pitchFamily="34" charset="-120"/>
              </a:rPr>
              <a:t>Database design</a:t>
            </a:r>
            <a:endParaRPr lang="en-US" sz="1150" dirty="0"/>
          </a:p>
        </p:txBody>
      </p:sp>
      <p:sp>
        <p:nvSpPr>
          <p:cNvPr id="22" name="Shape 20"/>
          <p:cNvSpPr/>
          <p:nvPr/>
        </p:nvSpPr>
        <p:spPr>
          <a:xfrm>
            <a:off x="5074920" y="1508760"/>
            <a:ext cx="2212848" cy="1444752"/>
          </a:xfrm>
          <a:prstGeom prst="rect">
            <a:avLst/>
          </a:prstGeom>
          <a:solidFill>
            <a:srgbClr val="EDF1FA"/>
          </a:solidFill>
          <a:ln/>
        </p:spPr>
      </p:sp>
      <p:sp>
        <p:nvSpPr>
          <p:cNvPr id="23" name="Shape 21"/>
          <p:cNvSpPr/>
          <p:nvPr/>
        </p:nvSpPr>
        <p:spPr>
          <a:xfrm>
            <a:off x="5074920" y="1508760"/>
            <a:ext cx="2212848" cy="64008"/>
          </a:xfrm>
          <a:prstGeom prst="rect">
            <a:avLst/>
          </a:prstGeom>
          <a:solidFill>
            <a:srgbClr val="1E2761"/>
          </a:solidFill>
          <a:ln/>
        </p:spPr>
      </p:sp>
      <p:sp>
        <p:nvSpPr>
          <p:cNvPr id="24" name="Text 22"/>
          <p:cNvSpPr/>
          <p:nvPr/>
        </p:nvSpPr>
        <p:spPr>
          <a:xfrm>
            <a:off x="5212080" y="1645920"/>
            <a:ext cx="1938528" cy="36576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HTML5</a:t>
            </a:r>
            <a:endParaRPr lang="en-US" sz="1350" dirty="0"/>
          </a:p>
        </p:txBody>
      </p:sp>
      <p:sp>
        <p:nvSpPr>
          <p:cNvPr id="25" name="Text 23"/>
          <p:cNvSpPr/>
          <p:nvPr/>
        </p:nvSpPr>
        <p:spPr>
          <a:xfrm>
            <a:off x="5212080" y="2039112"/>
            <a:ext cx="1938528" cy="804672"/>
          </a:xfrm>
          <a:prstGeom prst="rect">
            <a:avLst/>
          </a:prstGeom>
          <a:noFill/>
          <a:ln/>
        </p:spPr>
        <p:txBody>
          <a:bodyPr wrap="square" lIns="0" tIns="0" rIns="0" bIns="0" rtlCol="0" anchor="t"/>
          <a:lstStyle/>
          <a:p>
            <a:pPr marL="0" indent="0">
              <a:lnSpc>
                <a:spcPct val="115000"/>
              </a:lnSpc>
              <a:buNone/>
            </a:pPr>
            <a:r>
              <a:rPr lang="en-US" sz="1000" dirty="0">
                <a:solidFill>
                  <a:srgbClr val="222530"/>
                </a:solidFill>
                <a:latin typeface="Calibri" pitchFamily="34" charset="0"/>
                <a:ea typeface="Calibri" pitchFamily="34" charset="-122"/>
                <a:cs typeface="Calibri" pitchFamily="34" charset="-120"/>
              </a:rPr>
              <a:t>Page structure</a:t>
            </a:r>
            <a:endParaRPr lang="en-US" sz="1000" dirty="0"/>
          </a:p>
        </p:txBody>
      </p:sp>
      <p:sp>
        <p:nvSpPr>
          <p:cNvPr id="26" name="Shape 24"/>
          <p:cNvSpPr/>
          <p:nvPr/>
        </p:nvSpPr>
        <p:spPr>
          <a:xfrm>
            <a:off x="7424928" y="1508760"/>
            <a:ext cx="2212848" cy="1444752"/>
          </a:xfrm>
          <a:prstGeom prst="rect">
            <a:avLst/>
          </a:prstGeom>
          <a:solidFill>
            <a:srgbClr val="EDF1FA"/>
          </a:solidFill>
          <a:ln/>
        </p:spPr>
      </p:sp>
      <p:sp>
        <p:nvSpPr>
          <p:cNvPr id="27" name="Shape 25"/>
          <p:cNvSpPr/>
          <p:nvPr/>
        </p:nvSpPr>
        <p:spPr>
          <a:xfrm>
            <a:off x="7424928" y="1508760"/>
            <a:ext cx="2212848" cy="64008"/>
          </a:xfrm>
          <a:prstGeom prst="rect">
            <a:avLst/>
          </a:prstGeom>
          <a:solidFill>
            <a:srgbClr val="1E2761"/>
          </a:solidFill>
          <a:ln/>
        </p:spPr>
      </p:sp>
      <p:sp>
        <p:nvSpPr>
          <p:cNvPr id="28" name="Text 26"/>
          <p:cNvSpPr/>
          <p:nvPr/>
        </p:nvSpPr>
        <p:spPr>
          <a:xfrm>
            <a:off x="7562088" y="1645920"/>
            <a:ext cx="1938528" cy="36576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CSS3</a:t>
            </a:r>
            <a:endParaRPr lang="en-US" sz="1350" dirty="0"/>
          </a:p>
        </p:txBody>
      </p:sp>
      <p:sp>
        <p:nvSpPr>
          <p:cNvPr id="29" name="Text 27"/>
          <p:cNvSpPr/>
          <p:nvPr/>
        </p:nvSpPr>
        <p:spPr>
          <a:xfrm>
            <a:off x="7562088" y="2039112"/>
            <a:ext cx="1938528" cy="804672"/>
          </a:xfrm>
          <a:prstGeom prst="rect">
            <a:avLst/>
          </a:prstGeom>
          <a:noFill/>
          <a:ln/>
        </p:spPr>
        <p:txBody>
          <a:bodyPr wrap="square" lIns="0" tIns="0" rIns="0" bIns="0" rtlCol="0" anchor="t"/>
          <a:lstStyle/>
          <a:p>
            <a:pPr marL="0" indent="0">
              <a:lnSpc>
                <a:spcPct val="115000"/>
              </a:lnSpc>
              <a:buNone/>
            </a:pPr>
            <a:r>
              <a:rPr lang="en-US" sz="1000" dirty="0">
                <a:solidFill>
                  <a:srgbClr val="222530"/>
                </a:solidFill>
                <a:latin typeface="Calibri" pitchFamily="34" charset="0"/>
                <a:ea typeface="Calibri" pitchFamily="34" charset="-122"/>
                <a:cs typeface="Calibri" pitchFamily="34" charset="-120"/>
              </a:rPr>
              <a:t>Styling &amp; layout</a:t>
            </a:r>
            <a:endParaRPr lang="en-US" sz="1000" dirty="0"/>
          </a:p>
        </p:txBody>
      </p:sp>
      <p:sp>
        <p:nvSpPr>
          <p:cNvPr id="30" name="Shape 28"/>
          <p:cNvSpPr/>
          <p:nvPr/>
        </p:nvSpPr>
        <p:spPr>
          <a:xfrm>
            <a:off x="9774936" y="1508760"/>
            <a:ext cx="2212848" cy="1444752"/>
          </a:xfrm>
          <a:prstGeom prst="rect">
            <a:avLst/>
          </a:prstGeom>
          <a:solidFill>
            <a:srgbClr val="EDF1FA"/>
          </a:solidFill>
          <a:ln/>
        </p:spPr>
      </p:sp>
      <p:sp>
        <p:nvSpPr>
          <p:cNvPr id="31" name="Shape 29"/>
          <p:cNvSpPr/>
          <p:nvPr/>
        </p:nvSpPr>
        <p:spPr>
          <a:xfrm>
            <a:off x="9774936" y="1508760"/>
            <a:ext cx="2212848" cy="64008"/>
          </a:xfrm>
          <a:prstGeom prst="rect">
            <a:avLst/>
          </a:prstGeom>
          <a:solidFill>
            <a:srgbClr val="1E2761"/>
          </a:solidFill>
          <a:ln/>
        </p:spPr>
      </p:sp>
      <p:sp>
        <p:nvSpPr>
          <p:cNvPr id="32" name="Text 30"/>
          <p:cNvSpPr/>
          <p:nvPr/>
        </p:nvSpPr>
        <p:spPr>
          <a:xfrm>
            <a:off x="9912096" y="1645920"/>
            <a:ext cx="1938528" cy="36576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Tailwind CSS</a:t>
            </a:r>
            <a:endParaRPr lang="en-US" sz="1350" dirty="0"/>
          </a:p>
        </p:txBody>
      </p:sp>
      <p:sp>
        <p:nvSpPr>
          <p:cNvPr id="33" name="Text 31"/>
          <p:cNvSpPr/>
          <p:nvPr/>
        </p:nvSpPr>
        <p:spPr>
          <a:xfrm>
            <a:off x="9912096" y="2039112"/>
            <a:ext cx="1938528" cy="804672"/>
          </a:xfrm>
          <a:prstGeom prst="rect">
            <a:avLst/>
          </a:prstGeom>
          <a:noFill/>
          <a:ln/>
        </p:spPr>
        <p:txBody>
          <a:bodyPr wrap="square" lIns="0" tIns="0" rIns="0" bIns="0" rtlCol="0" anchor="t"/>
          <a:lstStyle/>
          <a:p>
            <a:pPr marL="0" indent="0">
              <a:lnSpc>
                <a:spcPct val="115000"/>
              </a:lnSpc>
              <a:buNone/>
            </a:pPr>
            <a:r>
              <a:rPr lang="en-US" sz="1000" dirty="0">
                <a:solidFill>
                  <a:srgbClr val="222530"/>
                </a:solidFill>
                <a:latin typeface="Calibri" pitchFamily="34" charset="0"/>
                <a:ea typeface="Calibri" pitchFamily="34" charset="-122"/>
                <a:cs typeface="Calibri" pitchFamily="34" charset="-120"/>
              </a:rPr>
              <a:t>Responsive utility-first UI</a:t>
            </a:r>
            <a:endParaRPr lang="en-US" sz="1000" dirty="0"/>
          </a:p>
        </p:txBody>
      </p:sp>
      <p:sp>
        <p:nvSpPr>
          <p:cNvPr id="34" name="Shape 32"/>
          <p:cNvSpPr/>
          <p:nvPr/>
        </p:nvSpPr>
        <p:spPr>
          <a:xfrm>
            <a:off x="5074920" y="3090672"/>
            <a:ext cx="2212848" cy="1444752"/>
          </a:xfrm>
          <a:prstGeom prst="rect">
            <a:avLst/>
          </a:prstGeom>
          <a:solidFill>
            <a:srgbClr val="EDF1FA"/>
          </a:solidFill>
          <a:ln/>
        </p:spPr>
      </p:sp>
      <p:sp>
        <p:nvSpPr>
          <p:cNvPr id="35" name="Shape 33"/>
          <p:cNvSpPr/>
          <p:nvPr/>
        </p:nvSpPr>
        <p:spPr>
          <a:xfrm>
            <a:off x="5074920" y="3090672"/>
            <a:ext cx="2212848" cy="64008"/>
          </a:xfrm>
          <a:prstGeom prst="rect">
            <a:avLst/>
          </a:prstGeom>
          <a:solidFill>
            <a:srgbClr val="1E2761"/>
          </a:solidFill>
          <a:ln/>
        </p:spPr>
      </p:sp>
      <p:sp>
        <p:nvSpPr>
          <p:cNvPr id="36" name="Text 34"/>
          <p:cNvSpPr/>
          <p:nvPr/>
        </p:nvSpPr>
        <p:spPr>
          <a:xfrm>
            <a:off x="5212080" y="3227832"/>
            <a:ext cx="1938528" cy="36576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JavaScript</a:t>
            </a:r>
            <a:endParaRPr lang="en-US" sz="1350" dirty="0"/>
          </a:p>
        </p:txBody>
      </p:sp>
      <p:sp>
        <p:nvSpPr>
          <p:cNvPr id="37" name="Text 35"/>
          <p:cNvSpPr/>
          <p:nvPr/>
        </p:nvSpPr>
        <p:spPr>
          <a:xfrm>
            <a:off x="5212080" y="3621024"/>
            <a:ext cx="1938528" cy="804672"/>
          </a:xfrm>
          <a:prstGeom prst="rect">
            <a:avLst/>
          </a:prstGeom>
          <a:noFill/>
          <a:ln/>
        </p:spPr>
        <p:txBody>
          <a:bodyPr wrap="square" lIns="0" tIns="0" rIns="0" bIns="0" rtlCol="0" anchor="t"/>
          <a:lstStyle/>
          <a:p>
            <a:pPr marL="0" indent="0">
              <a:lnSpc>
                <a:spcPct val="115000"/>
              </a:lnSpc>
              <a:buNone/>
            </a:pPr>
            <a:r>
              <a:rPr lang="en-US" sz="1000" dirty="0">
                <a:solidFill>
                  <a:srgbClr val="222530"/>
                </a:solidFill>
                <a:latin typeface="Calibri" pitchFamily="34" charset="0"/>
                <a:ea typeface="Calibri" pitchFamily="34" charset="-122"/>
                <a:cs typeface="Calibri" pitchFamily="34" charset="-120"/>
              </a:rPr>
              <a:t>Interactivity &amp; validation</a:t>
            </a:r>
            <a:endParaRPr lang="en-US" sz="1000" dirty="0"/>
          </a:p>
        </p:txBody>
      </p:sp>
      <p:sp>
        <p:nvSpPr>
          <p:cNvPr id="38" name="Shape 36"/>
          <p:cNvSpPr/>
          <p:nvPr/>
        </p:nvSpPr>
        <p:spPr>
          <a:xfrm>
            <a:off x="7424928" y="3090672"/>
            <a:ext cx="2212848" cy="1444752"/>
          </a:xfrm>
          <a:prstGeom prst="rect">
            <a:avLst/>
          </a:prstGeom>
          <a:solidFill>
            <a:srgbClr val="EDF1FA"/>
          </a:solidFill>
          <a:ln/>
        </p:spPr>
      </p:sp>
      <p:sp>
        <p:nvSpPr>
          <p:cNvPr id="39" name="Shape 37"/>
          <p:cNvSpPr/>
          <p:nvPr/>
        </p:nvSpPr>
        <p:spPr>
          <a:xfrm>
            <a:off x="7424928" y="3090672"/>
            <a:ext cx="2212848" cy="64008"/>
          </a:xfrm>
          <a:prstGeom prst="rect">
            <a:avLst/>
          </a:prstGeom>
          <a:solidFill>
            <a:srgbClr val="1E2761"/>
          </a:solidFill>
          <a:ln/>
        </p:spPr>
      </p:sp>
      <p:sp>
        <p:nvSpPr>
          <p:cNvPr id="40" name="Text 38"/>
          <p:cNvSpPr/>
          <p:nvPr/>
        </p:nvSpPr>
        <p:spPr>
          <a:xfrm>
            <a:off x="7562088" y="3227832"/>
            <a:ext cx="1938528" cy="36576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Git &amp; GitHub</a:t>
            </a:r>
            <a:endParaRPr lang="en-US" sz="1350" dirty="0"/>
          </a:p>
        </p:txBody>
      </p:sp>
      <p:sp>
        <p:nvSpPr>
          <p:cNvPr id="41" name="Text 39"/>
          <p:cNvSpPr/>
          <p:nvPr/>
        </p:nvSpPr>
        <p:spPr>
          <a:xfrm>
            <a:off x="7562088" y="3621024"/>
            <a:ext cx="1938528" cy="804672"/>
          </a:xfrm>
          <a:prstGeom prst="rect">
            <a:avLst/>
          </a:prstGeom>
          <a:noFill/>
          <a:ln/>
        </p:spPr>
        <p:txBody>
          <a:bodyPr wrap="square" lIns="0" tIns="0" rIns="0" bIns="0" rtlCol="0" anchor="t"/>
          <a:lstStyle/>
          <a:p>
            <a:pPr marL="0" indent="0">
              <a:lnSpc>
                <a:spcPct val="115000"/>
              </a:lnSpc>
              <a:buNone/>
            </a:pPr>
            <a:r>
              <a:rPr lang="en-US" sz="1000" dirty="0">
                <a:solidFill>
                  <a:srgbClr val="222530"/>
                </a:solidFill>
                <a:latin typeface="Calibri" pitchFamily="34" charset="0"/>
                <a:ea typeface="Calibri" pitchFamily="34" charset="-122"/>
                <a:cs typeface="Calibri" pitchFamily="34" charset="-120"/>
              </a:rPr>
              <a:t>Version control</a:t>
            </a:r>
            <a:endParaRPr lang="en-US" sz="1000" dirty="0"/>
          </a:p>
        </p:txBody>
      </p:sp>
      <p:sp>
        <p:nvSpPr>
          <p:cNvPr id="42" name="Shape 40"/>
          <p:cNvSpPr/>
          <p:nvPr/>
        </p:nvSpPr>
        <p:spPr>
          <a:xfrm>
            <a:off x="9774936" y="3090672"/>
            <a:ext cx="2212848" cy="1444752"/>
          </a:xfrm>
          <a:prstGeom prst="rect">
            <a:avLst/>
          </a:prstGeom>
          <a:solidFill>
            <a:srgbClr val="EDF1FA"/>
          </a:solidFill>
          <a:ln/>
        </p:spPr>
      </p:sp>
      <p:sp>
        <p:nvSpPr>
          <p:cNvPr id="43" name="Shape 41"/>
          <p:cNvSpPr/>
          <p:nvPr/>
        </p:nvSpPr>
        <p:spPr>
          <a:xfrm>
            <a:off x="9774936" y="3090672"/>
            <a:ext cx="2212848" cy="64008"/>
          </a:xfrm>
          <a:prstGeom prst="rect">
            <a:avLst/>
          </a:prstGeom>
          <a:solidFill>
            <a:srgbClr val="1E2761"/>
          </a:solidFill>
          <a:ln/>
        </p:spPr>
      </p:sp>
      <p:sp>
        <p:nvSpPr>
          <p:cNvPr id="44" name="Text 42"/>
          <p:cNvSpPr/>
          <p:nvPr/>
        </p:nvSpPr>
        <p:spPr>
          <a:xfrm>
            <a:off x="9912096" y="3227832"/>
            <a:ext cx="1938528" cy="36576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DevTools</a:t>
            </a:r>
            <a:endParaRPr lang="en-US" sz="1350" dirty="0"/>
          </a:p>
        </p:txBody>
      </p:sp>
      <p:sp>
        <p:nvSpPr>
          <p:cNvPr id="45" name="Text 43"/>
          <p:cNvSpPr/>
          <p:nvPr/>
        </p:nvSpPr>
        <p:spPr>
          <a:xfrm>
            <a:off x="9912096" y="3621024"/>
            <a:ext cx="1938528" cy="804672"/>
          </a:xfrm>
          <a:prstGeom prst="rect">
            <a:avLst/>
          </a:prstGeom>
          <a:noFill/>
          <a:ln/>
        </p:spPr>
        <p:txBody>
          <a:bodyPr wrap="square" lIns="0" tIns="0" rIns="0" bIns="0" rtlCol="0" anchor="t"/>
          <a:lstStyle/>
          <a:p>
            <a:pPr marL="0" indent="0">
              <a:lnSpc>
                <a:spcPct val="115000"/>
              </a:lnSpc>
              <a:buNone/>
            </a:pPr>
            <a:r>
              <a:rPr lang="en-US" sz="1000" dirty="0">
                <a:solidFill>
                  <a:srgbClr val="222530"/>
                </a:solidFill>
                <a:latin typeface="Calibri" pitchFamily="34" charset="0"/>
                <a:ea typeface="Calibri" pitchFamily="34" charset="-122"/>
                <a:cs typeface="Calibri" pitchFamily="34" charset="-120"/>
              </a:rPr>
              <a:t>Debugging &amp; UI audit</a:t>
            </a:r>
            <a:endParaRPr lang="en-US" sz="1000" dirty="0"/>
          </a:p>
        </p:txBody>
      </p:sp>
      <p:sp>
        <p:nvSpPr>
          <p:cNvPr id="46" name="Text 44"/>
          <p:cNvSpPr/>
          <p:nvPr/>
        </p:nvSpPr>
        <p:spPr>
          <a:xfrm>
            <a:off x="457200" y="6537960"/>
            <a:ext cx="86868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Web Development Internship — Infiniti Tech Solution, Noida</a:t>
            </a:r>
            <a:endParaRPr lang="en-US" sz="900" dirty="0"/>
          </a:p>
        </p:txBody>
      </p:sp>
      <p:sp>
        <p:nvSpPr>
          <p:cNvPr id="47" name="Text 45"/>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System Architecture &amp; Methodology</a:t>
            </a:r>
            <a:endParaRPr lang="en-US" sz="2700" dirty="0"/>
          </a:p>
        </p:txBody>
      </p:sp>
      <p:sp>
        <p:nvSpPr>
          <p:cNvPr id="3" name="Shape 1"/>
          <p:cNvSpPr/>
          <p:nvPr/>
        </p:nvSpPr>
        <p:spPr>
          <a:xfrm>
            <a:off x="548640" y="1261872"/>
            <a:ext cx="11064240" cy="18288"/>
          </a:xfrm>
          <a:prstGeom prst="rect">
            <a:avLst/>
          </a:prstGeom>
          <a:solidFill>
            <a:srgbClr val="CADCFC"/>
          </a:solidFill>
          <a:ln/>
        </p:spPr>
      </p:sp>
      <p:sp>
        <p:nvSpPr>
          <p:cNvPr id="4" name="Text 2"/>
          <p:cNvSpPr/>
          <p:nvPr/>
        </p:nvSpPr>
        <p:spPr>
          <a:xfrm>
            <a:off x="548640" y="1463040"/>
            <a:ext cx="5303520" cy="292608"/>
          </a:xfrm>
          <a:prstGeom prst="rect">
            <a:avLst/>
          </a:prstGeom>
          <a:noFill/>
          <a:ln/>
        </p:spPr>
        <p:txBody>
          <a:bodyPr wrap="square" lIns="0" tIns="0" rIns="0" bIns="0" rtlCol="0" anchor="ctr"/>
          <a:lstStyle/>
          <a:p>
            <a:pPr marL="0" indent="0">
              <a:buNone/>
            </a:pPr>
            <a:r>
              <a:rPr lang="en-US" sz="1100" b="1" kern="0" spc="120" dirty="0">
                <a:solidFill>
                  <a:srgbClr val="8E1F2F"/>
                </a:solidFill>
                <a:latin typeface="Calibri" pitchFamily="34" charset="0"/>
                <a:ea typeface="Calibri" pitchFamily="34" charset="-122"/>
                <a:cs typeface="Calibri" pitchFamily="34" charset="-120"/>
              </a:rPr>
              <a:t>SYSTEM ARCHITECTURE</a:t>
            </a:r>
            <a:endParaRPr lang="en-US" sz="1100" dirty="0"/>
          </a:p>
        </p:txBody>
      </p:sp>
      <p:sp>
        <p:nvSpPr>
          <p:cNvPr id="5" name="Shape 3"/>
          <p:cNvSpPr/>
          <p:nvPr/>
        </p:nvSpPr>
        <p:spPr>
          <a:xfrm>
            <a:off x="548640" y="1810512"/>
            <a:ext cx="5303520" cy="603504"/>
          </a:xfrm>
          <a:prstGeom prst="rect">
            <a:avLst/>
          </a:prstGeom>
          <a:solidFill>
            <a:srgbClr val="1E2761"/>
          </a:solidFill>
          <a:ln/>
        </p:spPr>
      </p:sp>
      <p:sp>
        <p:nvSpPr>
          <p:cNvPr id="6" name="Text 4"/>
          <p:cNvSpPr/>
          <p:nvPr/>
        </p:nvSpPr>
        <p:spPr>
          <a:xfrm>
            <a:off x="777240" y="1810512"/>
            <a:ext cx="4846320" cy="6035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User Interface</a:t>
            </a:r>
            <a:endParaRPr lang="en-US" sz="1250" dirty="0"/>
          </a:p>
        </p:txBody>
      </p:sp>
      <p:sp>
        <p:nvSpPr>
          <p:cNvPr id="7" name="Shape 5"/>
          <p:cNvSpPr/>
          <p:nvPr/>
        </p:nvSpPr>
        <p:spPr>
          <a:xfrm rot="10800000">
            <a:off x="3118104" y="2423160"/>
            <a:ext cx="164592" cy="73152"/>
          </a:xfrm>
          <a:prstGeom prst="triangle">
            <a:avLst/>
          </a:prstGeom>
          <a:solidFill>
            <a:srgbClr val="6B7280"/>
          </a:solidFill>
          <a:ln/>
        </p:spPr>
      </p:sp>
      <p:sp>
        <p:nvSpPr>
          <p:cNvPr id="8" name="Shape 6"/>
          <p:cNvSpPr/>
          <p:nvPr/>
        </p:nvSpPr>
        <p:spPr>
          <a:xfrm>
            <a:off x="548640" y="2505456"/>
            <a:ext cx="5303520" cy="603504"/>
          </a:xfrm>
          <a:prstGeom prst="rect">
            <a:avLst/>
          </a:prstGeom>
          <a:solidFill>
            <a:srgbClr val="1E2761"/>
          </a:solidFill>
          <a:ln/>
        </p:spPr>
      </p:sp>
      <p:sp>
        <p:nvSpPr>
          <p:cNvPr id="9" name="Text 7"/>
          <p:cNvSpPr/>
          <p:nvPr/>
        </p:nvSpPr>
        <p:spPr>
          <a:xfrm>
            <a:off x="777240" y="2505456"/>
            <a:ext cx="4846320" cy="6035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Authentication Screens</a:t>
            </a:r>
            <a:endParaRPr lang="en-US" sz="1250" dirty="0"/>
          </a:p>
        </p:txBody>
      </p:sp>
      <p:sp>
        <p:nvSpPr>
          <p:cNvPr id="10" name="Shape 8"/>
          <p:cNvSpPr/>
          <p:nvPr/>
        </p:nvSpPr>
        <p:spPr>
          <a:xfrm rot="10800000">
            <a:off x="3118104" y="3118104"/>
            <a:ext cx="164592" cy="73152"/>
          </a:xfrm>
          <a:prstGeom prst="triangle">
            <a:avLst/>
          </a:prstGeom>
          <a:solidFill>
            <a:srgbClr val="6B7280"/>
          </a:solidFill>
          <a:ln/>
        </p:spPr>
      </p:sp>
      <p:sp>
        <p:nvSpPr>
          <p:cNvPr id="11" name="Shape 9"/>
          <p:cNvSpPr/>
          <p:nvPr/>
        </p:nvSpPr>
        <p:spPr>
          <a:xfrm>
            <a:off x="548640" y="3200400"/>
            <a:ext cx="5303520" cy="603504"/>
          </a:xfrm>
          <a:prstGeom prst="rect">
            <a:avLst/>
          </a:prstGeom>
          <a:solidFill>
            <a:srgbClr val="1E2761"/>
          </a:solidFill>
          <a:ln/>
        </p:spPr>
      </p:sp>
      <p:sp>
        <p:nvSpPr>
          <p:cNvPr id="12" name="Text 10"/>
          <p:cNvSpPr/>
          <p:nvPr/>
        </p:nvSpPr>
        <p:spPr>
          <a:xfrm>
            <a:off x="777240" y="3200400"/>
            <a:ext cx="4846320" cy="6035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Dashboard &amp; CMS</a:t>
            </a:r>
            <a:endParaRPr lang="en-US" sz="1250" dirty="0"/>
          </a:p>
        </p:txBody>
      </p:sp>
      <p:sp>
        <p:nvSpPr>
          <p:cNvPr id="13" name="Shape 11"/>
          <p:cNvSpPr/>
          <p:nvPr/>
        </p:nvSpPr>
        <p:spPr>
          <a:xfrm rot="10800000">
            <a:off x="3118104" y="3813048"/>
            <a:ext cx="164592" cy="73152"/>
          </a:xfrm>
          <a:prstGeom prst="triangle">
            <a:avLst/>
          </a:prstGeom>
          <a:solidFill>
            <a:srgbClr val="6B7280"/>
          </a:solidFill>
          <a:ln/>
        </p:spPr>
      </p:sp>
      <p:sp>
        <p:nvSpPr>
          <p:cNvPr id="14" name="Shape 12"/>
          <p:cNvSpPr/>
          <p:nvPr/>
        </p:nvSpPr>
        <p:spPr>
          <a:xfrm>
            <a:off x="548640" y="3895344"/>
            <a:ext cx="5303520" cy="603504"/>
          </a:xfrm>
          <a:prstGeom prst="rect">
            <a:avLst/>
          </a:prstGeom>
          <a:solidFill>
            <a:srgbClr val="8C8FA3"/>
          </a:solidFill>
          <a:ln/>
        </p:spPr>
      </p:sp>
      <p:sp>
        <p:nvSpPr>
          <p:cNvPr id="15" name="Text 13"/>
          <p:cNvSpPr/>
          <p:nvPr/>
        </p:nvSpPr>
        <p:spPr>
          <a:xfrm>
            <a:off x="777240" y="3895344"/>
            <a:ext cx="4846320" cy="6035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Backend / API Layer</a:t>
            </a:r>
            <a:endParaRPr lang="en-US" sz="1250" dirty="0"/>
          </a:p>
        </p:txBody>
      </p:sp>
      <p:sp>
        <p:nvSpPr>
          <p:cNvPr id="16" name="Shape 14"/>
          <p:cNvSpPr/>
          <p:nvPr/>
        </p:nvSpPr>
        <p:spPr>
          <a:xfrm rot="10800000">
            <a:off x="3118104" y="4507992"/>
            <a:ext cx="164592" cy="73152"/>
          </a:xfrm>
          <a:prstGeom prst="triangle">
            <a:avLst/>
          </a:prstGeom>
          <a:solidFill>
            <a:srgbClr val="6B7280"/>
          </a:solidFill>
          <a:ln/>
        </p:spPr>
      </p:sp>
      <p:sp>
        <p:nvSpPr>
          <p:cNvPr id="17" name="Shape 15"/>
          <p:cNvSpPr/>
          <p:nvPr/>
        </p:nvSpPr>
        <p:spPr>
          <a:xfrm>
            <a:off x="548640" y="4590288"/>
            <a:ext cx="5303520" cy="603504"/>
          </a:xfrm>
          <a:prstGeom prst="rect">
            <a:avLst/>
          </a:prstGeom>
          <a:solidFill>
            <a:srgbClr val="8C8FA3"/>
          </a:solidFill>
          <a:ln/>
        </p:spPr>
      </p:sp>
      <p:sp>
        <p:nvSpPr>
          <p:cNvPr id="18" name="Text 16"/>
          <p:cNvSpPr/>
          <p:nvPr/>
        </p:nvSpPr>
        <p:spPr>
          <a:xfrm>
            <a:off x="777240" y="4590288"/>
            <a:ext cx="4846320" cy="6035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p>
        </p:txBody>
      </p:sp>
      <p:sp>
        <p:nvSpPr>
          <p:cNvPr id="19" name="Text 17"/>
          <p:cNvSpPr/>
          <p:nvPr/>
        </p:nvSpPr>
        <p:spPr>
          <a:xfrm>
            <a:off x="548639" y="5257800"/>
            <a:ext cx="5303520" cy="274320"/>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Navy = built during internship   |   Grey = owned by organization</a:t>
            </a:r>
            <a:endParaRPr lang="en-US" sz="950" dirty="0"/>
          </a:p>
        </p:txBody>
      </p:sp>
      <p:sp>
        <p:nvSpPr>
          <p:cNvPr id="20" name="Text 18"/>
          <p:cNvSpPr/>
          <p:nvPr/>
        </p:nvSpPr>
        <p:spPr>
          <a:xfrm>
            <a:off x="6263640" y="1463040"/>
            <a:ext cx="5394960" cy="292608"/>
          </a:xfrm>
          <a:prstGeom prst="rect">
            <a:avLst/>
          </a:prstGeom>
          <a:noFill/>
          <a:ln/>
        </p:spPr>
        <p:txBody>
          <a:bodyPr wrap="square" lIns="0" tIns="0" rIns="0" bIns="0" rtlCol="0" anchor="ctr"/>
          <a:lstStyle/>
          <a:p>
            <a:pPr marL="0" indent="0">
              <a:buNone/>
            </a:pPr>
            <a:r>
              <a:rPr lang="en-US" sz="1100" b="1" kern="0" spc="120" dirty="0">
                <a:solidFill>
                  <a:srgbClr val="8E1F2F"/>
                </a:solidFill>
                <a:latin typeface="Calibri" pitchFamily="34" charset="0"/>
                <a:ea typeface="Calibri" pitchFamily="34" charset="-122"/>
                <a:cs typeface="Calibri" pitchFamily="34" charset="-120"/>
              </a:rPr>
              <a:t>METHODOLOGY</a:t>
            </a:r>
            <a:endParaRPr lang="en-US" sz="1100" dirty="0"/>
          </a:p>
        </p:txBody>
      </p:sp>
      <p:sp>
        <p:nvSpPr>
          <p:cNvPr id="21" name="Shape 19"/>
          <p:cNvSpPr/>
          <p:nvPr/>
        </p:nvSpPr>
        <p:spPr>
          <a:xfrm>
            <a:off x="6263640" y="1810512"/>
            <a:ext cx="5349240" cy="658368"/>
          </a:xfrm>
          <a:prstGeom prst="rect">
            <a:avLst/>
          </a:prstGeom>
          <a:solidFill>
            <a:srgbClr val="EDF1FA"/>
          </a:solidFill>
          <a:ln/>
        </p:spPr>
      </p:sp>
      <p:sp>
        <p:nvSpPr>
          <p:cNvPr id="22" name="Shape 20"/>
          <p:cNvSpPr/>
          <p:nvPr/>
        </p:nvSpPr>
        <p:spPr>
          <a:xfrm>
            <a:off x="6446520" y="1975104"/>
            <a:ext cx="329184" cy="329184"/>
          </a:xfrm>
          <a:prstGeom prst="ellipse">
            <a:avLst/>
          </a:prstGeom>
          <a:solidFill>
            <a:srgbClr val="1E2761"/>
          </a:solidFill>
          <a:ln/>
        </p:spPr>
      </p:sp>
      <p:sp>
        <p:nvSpPr>
          <p:cNvPr id="23" name="Text 21"/>
          <p:cNvSpPr/>
          <p:nvPr/>
        </p:nvSpPr>
        <p:spPr>
          <a:xfrm>
            <a:off x="6446520" y="197510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22"/>
          <p:cNvSpPr/>
          <p:nvPr/>
        </p:nvSpPr>
        <p:spPr>
          <a:xfrm>
            <a:off x="6903720" y="1865376"/>
            <a:ext cx="4617720" cy="2743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Requirement discussion</a:t>
            </a:r>
            <a:endParaRPr lang="en-US" sz="1150" dirty="0"/>
          </a:p>
        </p:txBody>
      </p:sp>
      <p:sp>
        <p:nvSpPr>
          <p:cNvPr id="25" name="Text 23"/>
          <p:cNvSpPr/>
          <p:nvPr/>
        </p:nvSpPr>
        <p:spPr>
          <a:xfrm>
            <a:off x="6903720" y="2139696"/>
            <a:ext cx="4617720" cy="292608"/>
          </a:xfrm>
          <a:prstGeom prst="rect">
            <a:avLst/>
          </a:prstGeom>
          <a:noFill/>
          <a:ln/>
        </p:spPr>
        <p:txBody>
          <a:bodyPr wrap="square" lIns="0" tIns="0" rIns="0" bIns="0" rtlCol="0" anchor="ctr"/>
          <a:lstStyle/>
          <a:p>
            <a:pPr marL="0" indent="0">
              <a:buNone/>
            </a:pPr>
            <a:r>
              <a:rPr lang="en-US" sz="970" dirty="0">
                <a:solidFill>
                  <a:srgbClr val="222530"/>
                </a:solidFill>
                <a:latin typeface="Calibri" pitchFamily="34" charset="0"/>
                <a:ea typeface="Calibri" pitchFamily="34" charset="-122"/>
                <a:cs typeface="Calibri" pitchFamily="34" charset="-120"/>
              </a:rPr>
              <a:t>Understood required pages via internship-guide discussions</a:t>
            </a:r>
            <a:endParaRPr lang="en-US" sz="970" dirty="0"/>
          </a:p>
        </p:txBody>
      </p:sp>
      <p:sp>
        <p:nvSpPr>
          <p:cNvPr id="26" name="Shape 24"/>
          <p:cNvSpPr/>
          <p:nvPr/>
        </p:nvSpPr>
        <p:spPr>
          <a:xfrm>
            <a:off x="6263640" y="2560320"/>
            <a:ext cx="5349240" cy="658368"/>
          </a:xfrm>
          <a:prstGeom prst="rect">
            <a:avLst/>
          </a:prstGeom>
          <a:solidFill>
            <a:srgbClr val="F4F6FB"/>
          </a:solidFill>
          <a:ln/>
        </p:spPr>
      </p:sp>
      <p:sp>
        <p:nvSpPr>
          <p:cNvPr id="27" name="Shape 25"/>
          <p:cNvSpPr/>
          <p:nvPr/>
        </p:nvSpPr>
        <p:spPr>
          <a:xfrm>
            <a:off x="6446520" y="2724912"/>
            <a:ext cx="329184" cy="329184"/>
          </a:xfrm>
          <a:prstGeom prst="ellipse">
            <a:avLst/>
          </a:prstGeom>
          <a:solidFill>
            <a:srgbClr val="1E2761"/>
          </a:solidFill>
          <a:ln/>
        </p:spPr>
      </p:sp>
      <p:sp>
        <p:nvSpPr>
          <p:cNvPr id="28" name="Text 26"/>
          <p:cNvSpPr/>
          <p:nvPr/>
        </p:nvSpPr>
        <p:spPr>
          <a:xfrm>
            <a:off x="6446520" y="272491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9" name="Text 27"/>
          <p:cNvSpPr/>
          <p:nvPr/>
        </p:nvSpPr>
        <p:spPr>
          <a:xfrm>
            <a:off x="6903720" y="2615184"/>
            <a:ext cx="4617720" cy="2743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Reference &amp; planning</a:t>
            </a:r>
            <a:endParaRPr lang="en-US" sz="1150" dirty="0"/>
          </a:p>
        </p:txBody>
      </p:sp>
      <p:sp>
        <p:nvSpPr>
          <p:cNvPr id="30" name="Text 28"/>
          <p:cNvSpPr/>
          <p:nvPr/>
        </p:nvSpPr>
        <p:spPr>
          <a:xfrm>
            <a:off x="6903720" y="2889504"/>
            <a:ext cx="4617720" cy="292608"/>
          </a:xfrm>
          <a:prstGeom prst="rect">
            <a:avLst/>
          </a:prstGeom>
          <a:noFill/>
          <a:ln/>
        </p:spPr>
        <p:txBody>
          <a:bodyPr wrap="square" lIns="0" tIns="0" rIns="0" bIns="0" rtlCol="0" anchor="ctr"/>
          <a:lstStyle/>
          <a:p>
            <a:pPr marL="0" indent="0">
              <a:buNone/>
            </a:pPr>
            <a:r>
              <a:rPr lang="en-US" sz="970" dirty="0">
                <a:solidFill>
                  <a:srgbClr val="222530"/>
                </a:solidFill>
                <a:latin typeface="Calibri" pitchFamily="34" charset="0"/>
                <a:ea typeface="Calibri" pitchFamily="34" charset="-122"/>
                <a:cs typeface="Calibri" pitchFamily="34" charset="-120"/>
              </a:rPr>
              <a:t>Reviewed design references; planned layouts/components</a:t>
            </a:r>
            <a:endParaRPr lang="en-US" sz="970" dirty="0"/>
          </a:p>
        </p:txBody>
      </p:sp>
      <p:sp>
        <p:nvSpPr>
          <p:cNvPr id="31" name="Shape 29"/>
          <p:cNvSpPr/>
          <p:nvPr/>
        </p:nvSpPr>
        <p:spPr>
          <a:xfrm>
            <a:off x="6263640" y="3310128"/>
            <a:ext cx="5349240" cy="658368"/>
          </a:xfrm>
          <a:prstGeom prst="rect">
            <a:avLst/>
          </a:prstGeom>
          <a:solidFill>
            <a:srgbClr val="EDF1FA"/>
          </a:solidFill>
          <a:ln/>
        </p:spPr>
      </p:sp>
      <p:sp>
        <p:nvSpPr>
          <p:cNvPr id="32" name="Shape 30"/>
          <p:cNvSpPr/>
          <p:nvPr/>
        </p:nvSpPr>
        <p:spPr>
          <a:xfrm>
            <a:off x="6446520" y="3474720"/>
            <a:ext cx="329184" cy="329184"/>
          </a:xfrm>
          <a:prstGeom prst="ellipse">
            <a:avLst/>
          </a:prstGeom>
          <a:solidFill>
            <a:srgbClr val="1E2761"/>
          </a:solidFill>
          <a:ln/>
        </p:spPr>
      </p:sp>
      <p:sp>
        <p:nvSpPr>
          <p:cNvPr id="33" name="Text 31"/>
          <p:cNvSpPr/>
          <p:nvPr/>
        </p:nvSpPr>
        <p:spPr>
          <a:xfrm>
            <a:off x="6446520" y="347472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4" name="Text 32"/>
          <p:cNvSpPr/>
          <p:nvPr/>
        </p:nvSpPr>
        <p:spPr>
          <a:xfrm>
            <a:off x="6903720" y="3364992"/>
            <a:ext cx="4617720" cy="2743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Page-wise development</a:t>
            </a:r>
            <a:endParaRPr lang="en-US" sz="1150" dirty="0"/>
          </a:p>
        </p:txBody>
      </p:sp>
      <p:sp>
        <p:nvSpPr>
          <p:cNvPr id="35" name="Text 33"/>
          <p:cNvSpPr/>
          <p:nvPr/>
        </p:nvSpPr>
        <p:spPr>
          <a:xfrm>
            <a:off x="6903720" y="3639312"/>
            <a:ext cx="4617720" cy="292608"/>
          </a:xfrm>
          <a:prstGeom prst="rect">
            <a:avLst/>
          </a:prstGeom>
          <a:noFill/>
          <a:ln/>
        </p:spPr>
        <p:txBody>
          <a:bodyPr wrap="square" lIns="0" tIns="0" rIns="0" bIns="0" rtlCol="0" anchor="ctr"/>
          <a:lstStyle/>
          <a:p>
            <a:pPr marL="0" indent="0">
              <a:buNone/>
            </a:pPr>
            <a:r>
              <a:rPr lang="en-US" sz="970" dirty="0">
                <a:solidFill>
                  <a:srgbClr val="222530"/>
                </a:solidFill>
                <a:latin typeface="Calibri" pitchFamily="34" charset="0"/>
                <a:ea typeface="Calibri" pitchFamily="34" charset="-122"/>
                <a:cs typeface="Calibri" pitchFamily="34" charset="-120"/>
              </a:rPr>
              <a:t>Built auth, dashboard, CMS pages incrementally</a:t>
            </a:r>
            <a:endParaRPr lang="en-US" sz="970" dirty="0"/>
          </a:p>
        </p:txBody>
      </p:sp>
      <p:sp>
        <p:nvSpPr>
          <p:cNvPr id="36" name="Shape 34"/>
          <p:cNvSpPr/>
          <p:nvPr/>
        </p:nvSpPr>
        <p:spPr>
          <a:xfrm>
            <a:off x="6263640" y="4059936"/>
            <a:ext cx="5349240" cy="658368"/>
          </a:xfrm>
          <a:prstGeom prst="rect">
            <a:avLst/>
          </a:prstGeom>
          <a:solidFill>
            <a:srgbClr val="F4F6FB"/>
          </a:solidFill>
          <a:ln/>
        </p:spPr>
      </p:sp>
      <p:sp>
        <p:nvSpPr>
          <p:cNvPr id="37" name="Shape 35"/>
          <p:cNvSpPr/>
          <p:nvPr/>
        </p:nvSpPr>
        <p:spPr>
          <a:xfrm>
            <a:off x="6446520" y="4224528"/>
            <a:ext cx="329184" cy="329184"/>
          </a:xfrm>
          <a:prstGeom prst="ellipse">
            <a:avLst/>
          </a:prstGeom>
          <a:solidFill>
            <a:srgbClr val="1E2761"/>
          </a:solidFill>
          <a:ln/>
        </p:spPr>
      </p:sp>
      <p:sp>
        <p:nvSpPr>
          <p:cNvPr id="38" name="Text 36"/>
          <p:cNvSpPr/>
          <p:nvPr/>
        </p:nvSpPr>
        <p:spPr>
          <a:xfrm>
            <a:off x="6446520" y="422452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Text 37"/>
          <p:cNvSpPr/>
          <p:nvPr/>
        </p:nvSpPr>
        <p:spPr>
          <a:xfrm>
            <a:off x="6903720" y="4114800"/>
            <a:ext cx="4617720" cy="2743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Responsive styling</a:t>
            </a:r>
            <a:endParaRPr lang="en-US" sz="1150" dirty="0"/>
          </a:p>
        </p:txBody>
      </p:sp>
      <p:sp>
        <p:nvSpPr>
          <p:cNvPr id="40" name="Text 38"/>
          <p:cNvSpPr/>
          <p:nvPr/>
        </p:nvSpPr>
        <p:spPr>
          <a:xfrm>
            <a:off x="6903720" y="4389120"/>
            <a:ext cx="4617720" cy="292608"/>
          </a:xfrm>
          <a:prstGeom prst="rect">
            <a:avLst/>
          </a:prstGeom>
          <a:noFill/>
          <a:ln/>
        </p:spPr>
        <p:txBody>
          <a:bodyPr wrap="square" lIns="0" tIns="0" rIns="0" bIns="0" rtlCol="0" anchor="ctr"/>
          <a:lstStyle/>
          <a:p>
            <a:pPr marL="0" indent="0">
              <a:buNone/>
            </a:pPr>
            <a:r>
              <a:rPr lang="en-US" sz="970" dirty="0">
                <a:solidFill>
                  <a:srgbClr val="222530"/>
                </a:solidFill>
                <a:latin typeface="Calibri" pitchFamily="34" charset="0"/>
                <a:ea typeface="Calibri" pitchFamily="34" charset="-122"/>
                <a:cs typeface="Calibri" pitchFamily="34" charset="-120"/>
              </a:rPr>
              <a:t>Used Tailwind CSS across screen sizes</a:t>
            </a:r>
            <a:endParaRPr lang="en-US" sz="970" dirty="0"/>
          </a:p>
        </p:txBody>
      </p:sp>
      <p:sp>
        <p:nvSpPr>
          <p:cNvPr id="41" name="Shape 39"/>
          <p:cNvSpPr/>
          <p:nvPr/>
        </p:nvSpPr>
        <p:spPr>
          <a:xfrm>
            <a:off x="6263640" y="4809744"/>
            <a:ext cx="5349240" cy="658368"/>
          </a:xfrm>
          <a:prstGeom prst="rect">
            <a:avLst/>
          </a:prstGeom>
          <a:solidFill>
            <a:srgbClr val="EDF1FA"/>
          </a:solidFill>
          <a:ln/>
        </p:spPr>
      </p:sp>
      <p:sp>
        <p:nvSpPr>
          <p:cNvPr id="42" name="Shape 40"/>
          <p:cNvSpPr/>
          <p:nvPr/>
        </p:nvSpPr>
        <p:spPr>
          <a:xfrm>
            <a:off x="6446520" y="4974336"/>
            <a:ext cx="329184" cy="329184"/>
          </a:xfrm>
          <a:prstGeom prst="ellipse">
            <a:avLst/>
          </a:prstGeom>
          <a:solidFill>
            <a:srgbClr val="1E2761"/>
          </a:solidFill>
          <a:ln/>
        </p:spPr>
      </p:sp>
      <p:sp>
        <p:nvSpPr>
          <p:cNvPr id="43" name="Text 41"/>
          <p:cNvSpPr/>
          <p:nvPr/>
        </p:nvSpPr>
        <p:spPr>
          <a:xfrm>
            <a:off x="6446520" y="497433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4" name="Text 42"/>
          <p:cNvSpPr/>
          <p:nvPr/>
        </p:nvSpPr>
        <p:spPr>
          <a:xfrm>
            <a:off x="6903720" y="4864608"/>
            <a:ext cx="4617720" cy="2743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Website audit</a:t>
            </a:r>
            <a:endParaRPr lang="en-US" sz="1150" dirty="0"/>
          </a:p>
        </p:txBody>
      </p:sp>
      <p:sp>
        <p:nvSpPr>
          <p:cNvPr id="45" name="Text 43"/>
          <p:cNvSpPr/>
          <p:nvPr/>
        </p:nvSpPr>
        <p:spPr>
          <a:xfrm>
            <a:off x="6903720" y="5138928"/>
            <a:ext cx="4617720" cy="292608"/>
          </a:xfrm>
          <a:prstGeom prst="rect">
            <a:avLst/>
          </a:prstGeom>
          <a:noFill/>
          <a:ln/>
        </p:spPr>
        <p:txBody>
          <a:bodyPr wrap="square" lIns="0" tIns="0" rIns="0" bIns="0" rtlCol="0" anchor="ctr"/>
          <a:lstStyle/>
          <a:p>
            <a:pPr marL="0" indent="0">
              <a:buNone/>
            </a:pPr>
            <a:r>
              <a:rPr lang="en-US" sz="970" dirty="0">
                <a:solidFill>
                  <a:srgbClr val="222530"/>
                </a:solidFill>
                <a:latin typeface="Calibri" pitchFamily="34" charset="0"/>
                <a:ea typeface="Calibri" pitchFamily="34" charset="-122"/>
                <a:cs typeface="Calibri" pitchFamily="34" charset="-120"/>
              </a:rPr>
              <a:t>Reviewed org site with DevTools; prioritized issues</a:t>
            </a:r>
            <a:endParaRPr lang="en-US" sz="970" dirty="0"/>
          </a:p>
        </p:txBody>
      </p:sp>
      <p:sp>
        <p:nvSpPr>
          <p:cNvPr id="48" name="Text 46"/>
          <p:cNvSpPr/>
          <p:nvPr/>
        </p:nvSpPr>
        <p:spPr>
          <a:xfrm>
            <a:off x="6446520" y="572414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2" name="Text 50"/>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E1F2F"/>
          </a:solidFill>
          <a:ln/>
        </p:spPr>
      </p:sp>
      <p:sp>
        <p:nvSpPr>
          <p:cNvPr id="3" name="Text 1"/>
          <p:cNvSpPr/>
          <p:nvPr/>
        </p:nvSpPr>
        <p:spPr>
          <a:xfrm>
            <a:off x="548640" y="411480"/>
            <a:ext cx="11064240" cy="59436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Expected Outcomes &amp; Acknowledgement</a:t>
            </a:r>
            <a:endParaRPr lang="en-US" sz="2700" dirty="0"/>
          </a:p>
        </p:txBody>
      </p:sp>
      <p:sp>
        <p:nvSpPr>
          <p:cNvPr id="4" name="Shape 2"/>
          <p:cNvSpPr/>
          <p:nvPr/>
        </p:nvSpPr>
        <p:spPr>
          <a:xfrm>
            <a:off x="548640" y="1051560"/>
            <a:ext cx="11064240" cy="18288"/>
          </a:xfrm>
          <a:prstGeom prst="rect">
            <a:avLst/>
          </a:prstGeom>
          <a:solidFill>
            <a:srgbClr val="CADCFC"/>
          </a:solidFill>
          <a:ln/>
        </p:spPr>
      </p:sp>
      <p:sp>
        <p:nvSpPr>
          <p:cNvPr id="5" name="Text 3"/>
          <p:cNvSpPr/>
          <p:nvPr/>
        </p:nvSpPr>
        <p:spPr>
          <a:xfrm>
            <a:off x="548640" y="1280160"/>
            <a:ext cx="5486400" cy="292608"/>
          </a:xfrm>
          <a:prstGeom prst="rect">
            <a:avLst/>
          </a:prstGeom>
          <a:noFill/>
          <a:ln/>
        </p:spPr>
        <p:txBody>
          <a:bodyPr wrap="square" lIns="0" tIns="0" rIns="0" bIns="0" rtlCol="0" anchor="ctr"/>
          <a:lstStyle/>
          <a:p>
            <a:pPr marL="0" indent="0">
              <a:buNone/>
            </a:pPr>
            <a:r>
              <a:rPr lang="en-US" sz="1150" b="1" kern="0" spc="120" dirty="0">
                <a:solidFill>
                  <a:srgbClr val="E7A5AD"/>
                </a:solidFill>
                <a:latin typeface="Calibri" pitchFamily="34" charset="0"/>
                <a:ea typeface="Calibri" pitchFamily="34" charset="-122"/>
                <a:cs typeface="Calibri" pitchFamily="34" charset="-120"/>
              </a:rPr>
              <a:t>EXPECTED OUTCOMES</a:t>
            </a:r>
            <a:endParaRPr lang="en-US" sz="1150" dirty="0"/>
          </a:p>
        </p:txBody>
      </p:sp>
      <p:sp>
        <p:nvSpPr>
          <p:cNvPr id="6" name="Shape 4"/>
          <p:cNvSpPr/>
          <p:nvPr/>
        </p:nvSpPr>
        <p:spPr>
          <a:xfrm>
            <a:off x="548640" y="1627632"/>
            <a:ext cx="5486400" cy="896112"/>
          </a:xfrm>
          <a:prstGeom prst="rect">
            <a:avLst/>
          </a:prstGeom>
          <a:solidFill>
            <a:srgbClr val="141A45"/>
          </a:solidFill>
          <a:ln/>
        </p:spPr>
      </p:sp>
      <p:sp>
        <p:nvSpPr>
          <p:cNvPr id="7" name="Shape 5"/>
          <p:cNvSpPr/>
          <p:nvPr/>
        </p:nvSpPr>
        <p:spPr>
          <a:xfrm>
            <a:off x="548640" y="1627632"/>
            <a:ext cx="73152" cy="896112"/>
          </a:xfrm>
          <a:prstGeom prst="rect">
            <a:avLst/>
          </a:prstGeom>
          <a:solidFill>
            <a:srgbClr val="FFFFFF"/>
          </a:solidFill>
          <a:ln/>
        </p:spPr>
      </p:sp>
      <p:sp>
        <p:nvSpPr>
          <p:cNvPr id="8" name="Text 6"/>
          <p:cNvSpPr/>
          <p:nvPr/>
        </p:nvSpPr>
        <p:spPr>
          <a:xfrm>
            <a:off x="868680" y="1627632"/>
            <a:ext cx="5029200" cy="896112"/>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Complete admin-portal frontend: auth, dashboard, and CMS pages.</a:t>
            </a:r>
            <a:endParaRPr lang="en-US" sz="1150" dirty="0"/>
          </a:p>
        </p:txBody>
      </p:sp>
      <p:sp>
        <p:nvSpPr>
          <p:cNvPr id="9" name="Shape 7"/>
          <p:cNvSpPr/>
          <p:nvPr/>
        </p:nvSpPr>
        <p:spPr>
          <a:xfrm>
            <a:off x="548640" y="2633472"/>
            <a:ext cx="5486400" cy="896112"/>
          </a:xfrm>
          <a:prstGeom prst="rect">
            <a:avLst/>
          </a:prstGeom>
          <a:solidFill>
            <a:srgbClr val="141A45"/>
          </a:solidFill>
          <a:ln/>
        </p:spPr>
      </p:sp>
      <p:sp>
        <p:nvSpPr>
          <p:cNvPr id="10" name="Shape 8"/>
          <p:cNvSpPr/>
          <p:nvPr/>
        </p:nvSpPr>
        <p:spPr>
          <a:xfrm>
            <a:off x="548640" y="2633472"/>
            <a:ext cx="73152" cy="896112"/>
          </a:xfrm>
          <a:prstGeom prst="rect">
            <a:avLst/>
          </a:prstGeom>
          <a:solidFill>
            <a:srgbClr val="FFFFFF"/>
          </a:solidFill>
          <a:ln/>
        </p:spPr>
      </p:sp>
      <p:sp>
        <p:nvSpPr>
          <p:cNvPr id="11" name="Text 9"/>
          <p:cNvSpPr/>
          <p:nvPr/>
        </p:nvSpPr>
        <p:spPr>
          <a:xfrm>
            <a:off x="868680" y="2633472"/>
            <a:ext cx="5029200" cy="896112"/>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Documented, prioritized UI/responsive audit of the website.</a:t>
            </a:r>
            <a:endParaRPr lang="en-US" sz="1150" dirty="0"/>
          </a:p>
        </p:txBody>
      </p:sp>
      <p:sp>
        <p:nvSpPr>
          <p:cNvPr id="15" name="Shape 13"/>
          <p:cNvSpPr/>
          <p:nvPr/>
        </p:nvSpPr>
        <p:spPr>
          <a:xfrm>
            <a:off x="585216" y="3639312"/>
            <a:ext cx="5486400" cy="896112"/>
          </a:xfrm>
          <a:prstGeom prst="rect">
            <a:avLst/>
          </a:prstGeom>
          <a:solidFill>
            <a:srgbClr val="141A45"/>
          </a:solidFill>
          <a:ln/>
        </p:spPr>
      </p:sp>
      <p:sp>
        <p:nvSpPr>
          <p:cNvPr id="16" name="Shape 14"/>
          <p:cNvSpPr/>
          <p:nvPr/>
        </p:nvSpPr>
        <p:spPr>
          <a:xfrm>
            <a:off x="557784" y="3639312"/>
            <a:ext cx="73152" cy="896112"/>
          </a:xfrm>
          <a:prstGeom prst="rect">
            <a:avLst/>
          </a:prstGeom>
          <a:solidFill>
            <a:srgbClr val="FFFFFF"/>
          </a:solidFill>
          <a:ln/>
        </p:spPr>
      </p:sp>
      <p:sp>
        <p:nvSpPr>
          <p:cNvPr id="17" name="Text 15"/>
          <p:cNvSpPr/>
          <p:nvPr/>
        </p:nvSpPr>
        <p:spPr>
          <a:xfrm>
            <a:off x="868680" y="3639312"/>
            <a:ext cx="5029200" cy="896112"/>
          </a:xfrm>
          <a:prstGeom prst="rect">
            <a:avLst/>
          </a:prstGeom>
          <a:noFill/>
          <a:ln/>
        </p:spPr>
        <p:txBody>
          <a:bodyPr wrap="square" lIns="0" tIns="0" rIns="0" bIns="0" rtlCol="0" anchor="ctr"/>
          <a:lstStyle/>
          <a:p>
            <a:pPr marL="0" indent="0">
              <a:lnSpc>
                <a:spcPct val="115000"/>
              </a:lnSpc>
              <a:buNone/>
            </a:pPr>
            <a:r>
              <a:rPr lang="en-US" sz="1150" dirty="0">
                <a:solidFill>
                  <a:srgbClr val="FFFFFF"/>
                </a:solidFill>
                <a:latin typeface="Calibri" pitchFamily="34" charset="0"/>
                <a:ea typeface="Calibri" pitchFamily="34" charset="-122"/>
                <a:cs typeface="Calibri" pitchFamily="34" charset="-120"/>
              </a:rPr>
              <a:t>Portfolio-ready, industry-level frontend development project.</a:t>
            </a:r>
            <a:endParaRPr lang="en-US" sz="1150" dirty="0"/>
          </a:p>
        </p:txBody>
      </p:sp>
      <p:sp>
        <p:nvSpPr>
          <p:cNvPr id="18" name="Text 16"/>
          <p:cNvSpPr/>
          <p:nvPr/>
        </p:nvSpPr>
        <p:spPr>
          <a:xfrm>
            <a:off x="6263640" y="1280160"/>
            <a:ext cx="5394960" cy="292608"/>
          </a:xfrm>
          <a:prstGeom prst="rect">
            <a:avLst/>
          </a:prstGeom>
          <a:noFill/>
          <a:ln/>
        </p:spPr>
        <p:txBody>
          <a:bodyPr wrap="square" lIns="0" tIns="0" rIns="0" bIns="0" rtlCol="0" anchor="ctr"/>
          <a:lstStyle/>
          <a:p>
            <a:pPr marL="0" indent="0">
              <a:buNone/>
            </a:pPr>
            <a:r>
              <a:rPr lang="en-US" sz="1150" b="1" kern="0" spc="120" dirty="0">
                <a:solidFill>
                  <a:srgbClr val="E7A5AD"/>
                </a:solidFill>
                <a:latin typeface="Calibri" pitchFamily="34" charset="0"/>
                <a:ea typeface="Calibri" pitchFamily="34" charset="-122"/>
                <a:cs typeface="Calibri" pitchFamily="34" charset="-120"/>
              </a:rPr>
              <a:t>ACKNOWLEDGEMENT &amp; CERTIFICATION</a:t>
            </a:r>
            <a:endParaRPr lang="en-US" sz="1150" dirty="0"/>
          </a:p>
        </p:txBody>
      </p:sp>
      <p:sp>
        <p:nvSpPr>
          <p:cNvPr id="19" name="Shape 17"/>
          <p:cNvSpPr/>
          <p:nvPr/>
        </p:nvSpPr>
        <p:spPr>
          <a:xfrm>
            <a:off x="6263640" y="1627632"/>
            <a:ext cx="5394960" cy="4114800"/>
          </a:xfrm>
          <a:prstGeom prst="rect">
            <a:avLst/>
          </a:prstGeom>
          <a:solidFill>
            <a:srgbClr val="141A45"/>
          </a:solidFill>
          <a:ln/>
        </p:spPr>
      </p:sp>
      <p:sp>
        <p:nvSpPr>
          <p:cNvPr id="20" name="Text 18"/>
          <p:cNvSpPr/>
          <p:nvPr/>
        </p:nvSpPr>
        <p:spPr>
          <a:xfrm>
            <a:off x="6537960" y="1828800"/>
            <a:ext cx="4846320" cy="3749040"/>
          </a:xfrm>
          <a:prstGeom prst="rect">
            <a:avLst/>
          </a:prstGeom>
          <a:noFill/>
          <a:ln/>
        </p:spPr>
        <p:txBody>
          <a:bodyPr wrap="square" lIns="0" tIns="0" rIns="0" bIns="0" rtlCol="0" anchor="t"/>
          <a:lstStyle/>
          <a:p>
            <a:pPr marL="0" indent="0">
              <a:lnSpc>
                <a:spcPct val="128000"/>
              </a:lnSpc>
              <a:buNone/>
            </a:pPr>
            <a:r>
              <a:rPr lang="en-US" sz="1150" i="1" dirty="0">
                <a:solidFill>
                  <a:srgbClr val="CADCFC"/>
                </a:solidFill>
                <a:latin typeface="Calibri" pitchFamily="34" charset="0"/>
                <a:ea typeface="Calibri" pitchFamily="34" charset="-122"/>
                <a:cs typeface="Calibri" pitchFamily="34" charset="-120"/>
              </a:rPr>
              <a:t>Certified by Infiniti Tech Solution, Noida, for completing training in Web Designing (1 July - 14 August 2026), with hands-on experience in the Admin Panel, a Landing Page, and UI/UX implementation. The intern was noted to be regular, punctual, and enthusiastic.</a:t>
            </a:r>
            <a:endParaRPr lang="en-US" sz="1150" dirty="0"/>
          </a:p>
          <a:p>
            <a:pPr marL="0" indent="0">
              <a:lnSpc>
                <a:spcPct val="128000"/>
              </a:lnSpc>
              <a:buNone/>
            </a:pPr>
            <a:endParaRPr lang="en-US" sz="1150" dirty="0"/>
          </a:p>
          <a:p>
            <a:pPr marL="0" indent="0">
              <a:lnSpc>
                <a:spcPct val="128000"/>
              </a:lnSpc>
              <a:buNone/>
            </a:pPr>
            <a:r>
              <a:rPr lang="en-US" sz="1150" i="1" dirty="0">
                <a:solidFill>
                  <a:srgbClr val="CADCFC"/>
                </a:solidFill>
                <a:latin typeface="Calibri" pitchFamily="34" charset="0"/>
                <a:ea typeface="Calibri" pitchFamily="34" charset="-122"/>
                <a:cs typeface="Calibri" pitchFamily="34" charset="-120"/>
              </a:rPr>
              <a:t>Sincere thanks to Mr. Durgesh Nagvanshi, Internship Guide, for his guidance throughout the admin portal development and related web design tasks, and to the School of Computer Science and Engineering, IILM University, Greater Noida, for their continuous support.</a:t>
            </a:r>
            <a:endParaRPr lang="en-US" sz="1150" dirty="0"/>
          </a:p>
        </p:txBody>
      </p:sp>
      <p:sp>
        <p:nvSpPr>
          <p:cNvPr id="22" name="Text 20"/>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E1F2F"/>
          </a:solidFill>
          <a:ln/>
        </p:spPr>
      </p:sp>
      <p:sp>
        <p:nvSpPr>
          <p:cNvPr id="3" name="Shape 1"/>
          <p:cNvSpPr/>
          <p:nvPr/>
        </p:nvSpPr>
        <p:spPr>
          <a:xfrm>
            <a:off x="9692640" y="-2103120"/>
            <a:ext cx="5852160" cy="5852160"/>
          </a:xfrm>
          <a:prstGeom prst="ellipse">
            <a:avLst/>
          </a:prstGeom>
          <a:solidFill>
            <a:srgbClr val="141A45"/>
          </a:solidFill>
          <a:ln/>
        </p:spPr>
      </p:sp>
      <p:sp>
        <p:nvSpPr>
          <p:cNvPr id="4" name="Shape 2"/>
          <p:cNvSpPr/>
          <p:nvPr/>
        </p:nvSpPr>
        <p:spPr>
          <a:xfrm>
            <a:off x="-2468880" y="4297680"/>
            <a:ext cx="5120640" cy="5120640"/>
          </a:xfrm>
          <a:prstGeom prst="ellipse">
            <a:avLst/>
          </a:prstGeom>
          <a:solidFill>
            <a:srgbClr val="141A45"/>
          </a:solidFill>
          <a:ln/>
        </p:spPr>
      </p:sp>
      <p:pic>
        <p:nvPicPr>
          <p:cNvPr id="5" name="Image 0" descr="/home/claude/work/iilm_logo-000.png"/>
          <p:cNvPicPr>
            <a:picLocks noChangeAspect="1"/>
          </p:cNvPicPr>
          <p:nvPr/>
        </p:nvPicPr>
        <p:blipFill>
          <a:blip r:embed="rId3"/>
          <a:stretch>
            <a:fillRect/>
          </a:stretch>
        </p:blipFill>
        <p:spPr>
          <a:xfrm>
            <a:off x="5367528" y="1463040"/>
            <a:ext cx="1463040" cy="1463040"/>
          </a:xfrm>
          <a:prstGeom prst="rect">
            <a:avLst/>
          </a:prstGeom>
        </p:spPr>
      </p:pic>
      <p:sp>
        <p:nvSpPr>
          <p:cNvPr id="6" name="Text 3"/>
          <p:cNvSpPr/>
          <p:nvPr/>
        </p:nvSpPr>
        <p:spPr>
          <a:xfrm>
            <a:off x="548640" y="3200400"/>
            <a:ext cx="1106424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4"/>
          <p:cNvSpPr/>
          <p:nvPr/>
        </p:nvSpPr>
        <p:spPr>
          <a:xfrm>
            <a:off x="548640" y="4160520"/>
            <a:ext cx="11064240" cy="457200"/>
          </a:xfrm>
          <a:prstGeom prst="rect">
            <a:avLst/>
          </a:prstGeom>
          <a:noFill/>
          <a:ln/>
        </p:spPr>
        <p:txBody>
          <a:bodyPr wrap="square" lIns="0" tIns="0" rIns="0" bIns="0" rtlCol="0" anchor="ctr"/>
          <a:lstStyle/>
          <a:p>
            <a:pPr marL="0" indent="0" algn="ctr">
              <a:buNone/>
            </a:pPr>
            <a:r>
              <a:rPr lang="en-US" sz="1500" b="1" dirty="0">
                <a:solidFill>
                  <a:srgbClr val="CADCFC"/>
                </a:solidFill>
                <a:latin typeface="Calibri" pitchFamily="34" charset="0"/>
                <a:ea typeface="Calibri" pitchFamily="34" charset="-122"/>
                <a:cs typeface="Calibri" pitchFamily="34" charset="-120"/>
              </a:rPr>
              <a:t>Tanwi Singh  |  CS-23411509  |  B.Tech CSE (AI/ML)</a:t>
            </a:r>
            <a:endParaRPr lang="en-US" sz="1500" b="1" dirty="0"/>
          </a:p>
        </p:txBody>
      </p:sp>
      <p:sp>
        <p:nvSpPr>
          <p:cNvPr id="8" name="Text 5"/>
          <p:cNvSpPr/>
          <p:nvPr/>
        </p:nvSpPr>
        <p:spPr>
          <a:xfrm>
            <a:off x="548640" y="4617720"/>
            <a:ext cx="11064240" cy="411480"/>
          </a:xfrm>
          <a:prstGeom prst="rect">
            <a:avLst/>
          </a:prstGeom>
          <a:noFill/>
          <a:ln/>
        </p:spPr>
        <p:txBody>
          <a:bodyPr wrap="square" lIns="0" tIns="0" rIns="0" bIns="0" rtlCol="0" anchor="ctr"/>
          <a:lstStyle/>
          <a:p>
            <a:pPr marL="0" indent="0" algn="ctr">
              <a:buNone/>
            </a:pPr>
            <a:r>
              <a:rPr lang="en-US" sz="1250" i="1" dirty="0">
                <a:solidFill>
                  <a:srgbClr val="CADCFC"/>
                </a:solidFill>
                <a:latin typeface="Calibri" pitchFamily="34" charset="0"/>
                <a:ea typeface="Calibri" pitchFamily="34" charset="-122"/>
                <a:cs typeface="Calibri" pitchFamily="34" charset="-120"/>
              </a:rPr>
              <a:t>IILM University, Greater Noida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636</Words>
  <Application>Microsoft Office PowerPoint</Application>
  <PresentationFormat>Widescreen</PresentationFormat>
  <Paragraphs>109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tanwi singh</cp:lastModifiedBy>
  <cp:revision>2</cp:revision>
  <dcterms:created xsi:type="dcterms:W3CDTF">2026-09-04T20:26:08Z</dcterms:created>
  <dcterms:modified xsi:type="dcterms:W3CDTF">2026-09-04T20:44:59Z</dcterms:modified>
</cp:coreProperties>
</file>